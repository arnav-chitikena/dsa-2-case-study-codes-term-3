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46" name="Shape 10246"/>
        <p:cNvGrpSpPr/>
        <p:nvPr/>
      </p:nvGrpSpPr>
      <p:grpSpPr>
        <a:xfrm>
          <a:off x="0" y="0"/>
          <a:ext cx="0" cy="0"/>
          <a:chOff x="0" y="0"/>
          <a:chExt cx="0" cy="0"/>
        </a:xfrm>
      </p:grpSpPr>
      <p:sp>
        <p:nvSpPr>
          <p:cNvPr id="10247" name="Google Shape;10247;n"/>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48" name="Google Shape;10248;n"/>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49" name="Google Shape;10249;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0" name="Google Shape;10250;n"/>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10251" name="Google Shape;10251;n"/>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52" name="Google Shape;10252;n"/>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3" name="Shape 10323"/>
        <p:cNvGrpSpPr/>
        <p:nvPr/>
      </p:nvGrpSpPr>
      <p:grpSpPr>
        <a:xfrm>
          <a:off x="0" y="0"/>
          <a:ext cx="0" cy="0"/>
          <a:chOff x="0" y="0"/>
          <a:chExt cx="0" cy="0"/>
        </a:xfrm>
      </p:grpSpPr>
      <p:sp>
        <p:nvSpPr>
          <p:cNvPr id="10324" name="Google Shape;1032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0325" name="Google Shape;1032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6" name="Shape 10336"/>
        <p:cNvGrpSpPr/>
        <p:nvPr/>
      </p:nvGrpSpPr>
      <p:grpSpPr>
        <a:xfrm>
          <a:off x="0" y="0"/>
          <a:ext cx="0" cy="0"/>
          <a:chOff x="0" y="0"/>
          <a:chExt cx="0" cy="0"/>
        </a:xfrm>
      </p:grpSpPr>
      <p:sp>
        <p:nvSpPr>
          <p:cNvPr id="10337" name="Google Shape;10337;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38" name="Google Shape;103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9" name="Shape 10349"/>
        <p:cNvGrpSpPr/>
        <p:nvPr/>
      </p:nvGrpSpPr>
      <p:grpSpPr>
        <a:xfrm>
          <a:off x="0" y="0"/>
          <a:ext cx="0" cy="0"/>
          <a:chOff x="0" y="0"/>
          <a:chExt cx="0" cy="0"/>
        </a:xfrm>
      </p:grpSpPr>
      <p:sp>
        <p:nvSpPr>
          <p:cNvPr id="10350" name="Google Shape;103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1" name="Google Shape;10351;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2" name="Google Shape;10352;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7" name="Shape 10357"/>
        <p:cNvGrpSpPr/>
        <p:nvPr/>
      </p:nvGrpSpPr>
      <p:grpSpPr>
        <a:xfrm>
          <a:off x="0" y="0"/>
          <a:ext cx="0" cy="0"/>
          <a:chOff x="0" y="0"/>
          <a:chExt cx="0" cy="0"/>
        </a:xfrm>
      </p:grpSpPr>
      <p:sp>
        <p:nvSpPr>
          <p:cNvPr id="10358" name="Google Shape;10358;p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9" name="Google Shape;103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6" name="Shape 10366"/>
        <p:cNvGrpSpPr/>
        <p:nvPr/>
      </p:nvGrpSpPr>
      <p:grpSpPr>
        <a:xfrm>
          <a:off x="0" y="0"/>
          <a:ext cx="0" cy="0"/>
          <a:chOff x="0" y="0"/>
          <a:chExt cx="0" cy="0"/>
        </a:xfrm>
      </p:grpSpPr>
      <p:sp>
        <p:nvSpPr>
          <p:cNvPr id="10367" name="Google Shape;10367;p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68" name="Google Shape;103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9" name="Shape 10379"/>
        <p:cNvGrpSpPr/>
        <p:nvPr/>
      </p:nvGrpSpPr>
      <p:grpSpPr>
        <a:xfrm>
          <a:off x="0" y="0"/>
          <a:ext cx="0" cy="0"/>
          <a:chOff x="0" y="0"/>
          <a:chExt cx="0" cy="0"/>
        </a:xfrm>
      </p:grpSpPr>
      <p:sp>
        <p:nvSpPr>
          <p:cNvPr id="10380" name="Google Shape;10380;p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1" name="Google Shape;103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2" name="Shape 10392"/>
        <p:cNvGrpSpPr/>
        <p:nvPr/>
      </p:nvGrpSpPr>
      <p:grpSpPr>
        <a:xfrm>
          <a:off x="0" y="0"/>
          <a:ext cx="0" cy="0"/>
          <a:chOff x="0" y="0"/>
          <a:chExt cx="0" cy="0"/>
        </a:xfrm>
      </p:grpSpPr>
      <p:sp>
        <p:nvSpPr>
          <p:cNvPr id="10393" name="Google Shape;10393;p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94" name="Google Shape;103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0" name="Shape 10400"/>
        <p:cNvGrpSpPr/>
        <p:nvPr/>
      </p:nvGrpSpPr>
      <p:grpSpPr>
        <a:xfrm>
          <a:off x="0" y="0"/>
          <a:ext cx="0" cy="0"/>
          <a:chOff x="0" y="0"/>
          <a:chExt cx="0" cy="0"/>
        </a:xfrm>
      </p:grpSpPr>
      <p:sp>
        <p:nvSpPr>
          <p:cNvPr id="10401" name="Google Shape;10401;p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02" name="Google Shape;104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8" name="Shape 10408"/>
        <p:cNvGrpSpPr/>
        <p:nvPr/>
      </p:nvGrpSpPr>
      <p:grpSpPr>
        <a:xfrm>
          <a:off x="0" y="0"/>
          <a:ext cx="0" cy="0"/>
          <a:chOff x="0" y="0"/>
          <a:chExt cx="0" cy="0"/>
        </a:xfrm>
      </p:grpSpPr>
      <p:sp>
        <p:nvSpPr>
          <p:cNvPr id="10409" name="Google Shape;1040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0" name="Google Shape;10410;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11" name="Google Shape;10411;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6" name="Shape 10416"/>
        <p:cNvGrpSpPr/>
        <p:nvPr/>
      </p:nvGrpSpPr>
      <p:grpSpPr>
        <a:xfrm>
          <a:off x="0" y="0"/>
          <a:ext cx="0" cy="0"/>
          <a:chOff x="0" y="0"/>
          <a:chExt cx="0" cy="0"/>
        </a:xfrm>
      </p:grpSpPr>
      <p:sp>
        <p:nvSpPr>
          <p:cNvPr id="10417" name="Google Shape;10417;p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18" name="Google Shape;104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3" name="Shape 10423"/>
        <p:cNvGrpSpPr/>
        <p:nvPr/>
      </p:nvGrpSpPr>
      <p:grpSpPr>
        <a:xfrm>
          <a:off x="0" y="0"/>
          <a:ext cx="0" cy="0"/>
          <a:chOff x="0" y="0"/>
          <a:chExt cx="0" cy="0"/>
        </a:xfrm>
      </p:grpSpPr>
      <p:sp>
        <p:nvSpPr>
          <p:cNvPr id="10424" name="Google Shape;10424;p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5" name="Google Shape;104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0" name="Shape 10430"/>
        <p:cNvGrpSpPr/>
        <p:nvPr/>
      </p:nvGrpSpPr>
      <p:grpSpPr>
        <a:xfrm>
          <a:off x="0" y="0"/>
          <a:ext cx="0" cy="0"/>
          <a:chOff x="0" y="0"/>
          <a:chExt cx="0" cy="0"/>
        </a:xfrm>
      </p:grpSpPr>
      <p:sp>
        <p:nvSpPr>
          <p:cNvPr id="10431" name="Google Shape;10431;p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2" name="Google Shape;1043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7" name="Shape 10437"/>
        <p:cNvGrpSpPr/>
        <p:nvPr/>
      </p:nvGrpSpPr>
      <p:grpSpPr>
        <a:xfrm>
          <a:off x="0" y="0"/>
          <a:ext cx="0" cy="0"/>
          <a:chOff x="0" y="0"/>
          <a:chExt cx="0" cy="0"/>
        </a:xfrm>
      </p:grpSpPr>
      <p:sp>
        <p:nvSpPr>
          <p:cNvPr id="10438" name="Google Shape;10438;p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9" name="Google Shape;104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4" name="Shape 10444"/>
        <p:cNvGrpSpPr/>
        <p:nvPr/>
      </p:nvGrpSpPr>
      <p:grpSpPr>
        <a:xfrm>
          <a:off x="0" y="0"/>
          <a:ext cx="0" cy="0"/>
          <a:chOff x="0" y="0"/>
          <a:chExt cx="0" cy="0"/>
        </a:xfrm>
      </p:grpSpPr>
      <p:sp>
        <p:nvSpPr>
          <p:cNvPr id="10445" name="Google Shape;10445;p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46" name="Google Shape;104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1" name="Shape 10451"/>
        <p:cNvGrpSpPr/>
        <p:nvPr/>
      </p:nvGrpSpPr>
      <p:grpSpPr>
        <a:xfrm>
          <a:off x="0" y="0"/>
          <a:ext cx="0" cy="0"/>
          <a:chOff x="0" y="0"/>
          <a:chExt cx="0" cy="0"/>
        </a:xfrm>
      </p:grpSpPr>
      <p:sp>
        <p:nvSpPr>
          <p:cNvPr id="10452" name="Google Shape;10452;p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3" name="Google Shape;104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8" name="Shape 10458"/>
        <p:cNvGrpSpPr/>
        <p:nvPr/>
      </p:nvGrpSpPr>
      <p:grpSpPr>
        <a:xfrm>
          <a:off x="0" y="0"/>
          <a:ext cx="0" cy="0"/>
          <a:chOff x="0" y="0"/>
          <a:chExt cx="0" cy="0"/>
        </a:xfrm>
      </p:grpSpPr>
      <p:sp>
        <p:nvSpPr>
          <p:cNvPr id="10459" name="Google Shape;10459;p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0" name="Google Shape;104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5" name="Shape 10465"/>
        <p:cNvGrpSpPr/>
        <p:nvPr/>
      </p:nvGrpSpPr>
      <p:grpSpPr>
        <a:xfrm>
          <a:off x="0" y="0"/>
          <a:ext cx="0" cy="0"/>
          <a:chOff x="0" y="0"/>
          <a:chExt cx="0" cy="0"/>
        </a:xfrm>
      </p:grpSpPr>
      <p:sp>
        <p:nvSpPr>
          <p:cNvPr id="10466" name="Google Shape;10466;p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7" name="Google Shape;104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5" name="Shape 10475"/>
        <p:cNvGrpSpPr/>
        <p:nvPr/>
      </p:nvGrpSpPr>
      <p:grpSpPr>
        <a:xfrm>
          <a:off x="0" y="0"/>
          <a:ext cx="0" cy="0"/>
          <a:chOff x="0" y="0"/>
          <a:chExt cx="0" cy="0"/>
        </a:xfrm>
      </p:grpSpPr>
      <p:sp>
        <p:nvSpPr>
          <p:cNvPr id="10476" name="Google Shape;10476;p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77" name="Google Shape;104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1" name="Shape 10481"/>
        <p:cNvGrpSpPr/>
        <p:nvPr/>
      </p:nvGrpSpPr>
      <p:grpSpPr>
        <a:xfrm>
          <a:off x="0" y="0"/>
          <a:ext cx="0" cy="0"/>
          <a:chOff x="0" y="0"/>
          <a:chExt cx="0" cy="0"/>
        </a:xfrm>
      </p:grpSpPr>
      <p:sp>
        <p:nvSpPr>
          <p:cNvPr id="10482" name="Google Shape;10482;p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83" name="Google Shape;1048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9" name="Shape 10489"/>
        <p:cNvGrpSpPr/>
        <p:nvPr/>
      </p:nvGrpSpPr>
      <p:grpSpPr>
        <a:xfrm>
          <a:off x="0" y="0"/>
          <a:ext cx="0" cy="0"/>
          <a:chOff x="0" y="0"/>
          <a:chExt cx="0" cy="0"/>
        </a:xfrm>
      </p:grpSpPr>
      <p:sp>
        <p:nvSpPr>
          <p:cNvPr id="10490" name="Google Shape;10490;p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1" name="Google Shape;1049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5" name="Shape 10495"/>
        <p:cNvGrpSpPr/>
        <p:nvPr/>
      </p:nvGrpSpPr>
      <p:grpSpPr>
        <a:xfrm>
          <a:off x="0" y="0"/>
          <a:ext cx="0" cy="0"/>
          <a:chOff x="0" y="0"/>
          <a:chExt cx="0" cy="0"/>
        </a:xfrm>
      </p:grpSpPr>
      <p:sp>
        <p:nvSpPr>
          <p:cNvPr id="10496" name="Google Shape;1049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97" name="Google Shape;10497;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latin typeface="Times New Roman"/>
                <a:ea typeface="Times New Roman"/>
                <a:cs typeface="Times New Roman"/>
                <a:sym typeface="Times New Roman"/>
              </a:rPr>
              <a:t>A linear data structure</a:t>
            </a:r>
            <a:endParaRPr/>
          </a:p>
        </p:txBody>
      </p:sp>
      <p:sp>
        <p:nvSpPr>
          <p:cNvPr id="10498" name="Google Shape;10498;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5" name="Shape 10505"/>
        <p:cNvGrpSpPr/>
        <p:nvPr/>
      </p:nvGrpSpPr>
      <p:grpSpPr>
        <a:xfrm>
          <a:off x="0" y="0"/>
          <a:ext cx="0" cy="0"/>
          <a:chOff x="0" y="0"/>
          <a:chExt cx="0" cy="0"/>
        </a:xfrm>
      </p:grpSpPr>
      <p:sp>
        <p:nvSpPr>
          <p:cNvPr id="10506" name="Google Shape;10506;p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07" name="Google Shape;1050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1" name="Shape 10511"/>
        <p:cNvGrpSpPr/>
        <p:nvPr/>
      </p:nvGrpSpPr>
      <p:grpSpPr>
        <a:xfrm>
          <a:off x="0" y="0"/>
          <a:ext cx="0" cy="0"/>
          <a:chOff x="0" y="0"/>
          <a:chExt cx="0" cy="0"/>
        </a:xfrm>
      </p:grpSpPr>
      <p:sp>
        <p:nvSpPr>
          <p:cNvPr id="10512" name="Google Shape;10512;p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3" name="Google Shape;1051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7" name="Shape 10517"/>
        <p:cNvGrpSpPr/>
        <p:nvPr/>
      </p:nvGrpSpPr>
      <p:grpSpPr>
        <a:xfrm>
          <a:off x="0" y="0"/>
          <a:ext cx="0" cy="0"/>
          <a:chOff x="0" y="0"/>
          <a:chExt cx="0" cy="0"/>
        </a:xfrm>
      </p:grpSpPr>
      <p:sp>
        <p:nvSpPr>
          <p:cNvPr id="10518" name="Google Shape;10518;p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9" name="Google Shape;1051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0260" name="Shape 10260"/>
        <p:cNvGrpSpPr/>
        <p:nvPr/>
      </p:nvGrpSpPr>
      <p:grpSpPr>
        <a:xfrm>
          <a:off x="0" y="0"/>
          <a:ext cx="0" cy="0"/>
          <a:chOff x="0" y="0"/>
          <a:chExt cx="0" cy="0"/>
        </a:xfrm>
      </p:grpSpPr>
      <p:sp>
        <p:nvSpPr>
          <p:cNvPr id="10261" name="Google Shape;10261;p2"/>
          <p:cNvSpPr/>
          <p:nvPr>
            <p:ph idx="2" type="pic"/>
          </p:nvPr>
        </p:nvSpPr>
        <p:spPr>
          <a:xfrm>
            <a:off x="0" y="0"/>
            <a:ext cx="5467200" cy="598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62" name="Shape 10262"/>
        <p:cNvGrpSpPr/>
        <p:nvPr/>
      </p:nvGrpSpPr>
      <p:grpSpPr>
        <a:xfrm>
          <a:off x="0" y="0"/>
          <a:ext cx="0" cy="0"/>
          <a:chOff x="0" y="0"/>
          <a:chExt cx="0" cy="0"/>
        </a:xfrm>
      </p:grpSpPr>
      <p:sp>
        <p:nvSpPr>
          <p:cNvPr id="10263" name="Google Shape;10263;p3"/>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64" name="Google Shape;10264;p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65" name="Google Shape;10265;p3"/>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66" name="Google Shape;10266;p3"/>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67" name="Google Shape;10267;p3"/>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268" name="Shape 10268"/>
        <p:cNvGrpSpPr/>
        <p:nvPr/>
      </p:nvGrpSpPr>
      <p:grpSpPr>
        <a:xfrm>
          <a:off x="0" y="0"/>
          <a:ext cx="0" cy="0"/>
          <a:chOff x="0" y="0"/>
          <a:chExt cx="0" cy="0"/>
        </a:xfrm>
      </p:grpSpPr>
      <p:sp>
        <p:nvSpPr>
          <p:cNvPr id="10269" name="Google Shape;10269;p4"/>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70" name="Google Shape;10270;p4"/>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71" name="Google Shape;10271;p4"/>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72" name="Google Shape;10272;p4"/>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73" name="Google Shape;10273;p4"/>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74" name="Google Shape;10274;p4"/>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275" name="Shape 10275"/>
        <p:cNvGrpSpPr/>
        <p:nvPr/>
      </p:nvGrpSpPr>
      <p:grpSpPr>
        <a:xfrm>
          <a:off x="0" y="0"/>
          <a:ext cx="0" cy="0"/>
          <a:chOff x="0" y="0"/>
          <a:chExt cx="0" cy="0"/>
        </a:xfrm>
      </p:grpSpPr>
      <p:sp>
        <p:nvSpPr>
          <p:cNvPr id="10276" name="Google Shape;10276;p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77" name="Google Shape;10277;p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0278" name="Google Shape;10278;p5"/>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79" name="Google Shape;10279;p5"/>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80" name="Google Shape;10280;p5"/>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81" name="Shape 10281"/>
        <p:cNvGrpSpPr/>
        <p:nvPr/>
      </p:nvGrpSpPr>
      <p:grpSpPr>
        <a:xfrm>
          <a:off x="0" y="0"/>
          <a:ext cx="0" cy="0"/>
          <a:chOff x="0" y="0"/>
          <a:chExt cx="0" cy="0"/>
        </a:xfrm>
      </p:grpSpPr>
      <p:sp>
        <p:nvSpPr>
          <p:cNvPr id="10282" name="Google Shape;10282;p6"/>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83" name="Google Shape;10283;p6"/>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0284" name="Google Shape;10284;p6"/>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85" name="Google Shape;10285;p6"/>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86" name="Google Shape;10286;p6"/>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287" name="Shape 10287"/>
        <p:cNvGrpSpPr/>
        <p:nvPr/>
      </p:nvGrpSpPr>
      <p:grpSpPr>
        <a:xfrm>
          <a:off x="0" y="0"/>
          <a:ext cx="0" cy="0"/>
          <a:chOff x="0" y="0"/>
          <a:chExt cx="0" cy="0"/>
        </a:xfrm>
      </p:grpSpPr>
      <p:sp>
        <p:nvSpPr>
          <p:cNvPr id="10288" name="Google Shape;10288;p7"/>
          <p:cNvSpPr txBox="1"/>
          <p:nvPr>
            <p:ph type="title"/>
          </p:nvPr>
        </p:nvSpPr>
        <p:spPr>
          <a:xfrm>
            <a:off x="839788"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89" name="Google Shape;10289;p7"/>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0290" name="Google Shape;10290;p7"/>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91" name="Google Shape;10291;p7"/>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0292" name="Google Shape;10292;p7"/>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93" name="Google Shape;10293;p7"/>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94" name="Google Shape;10294;p7"/>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95" name="Google Shape;10295;p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96" name="Shape 10296"/>
        <p:cNvGrpSpPr/>
        <p:nvPr/>
      </p:nvGrpSpPr>
      <p:grpSpPr>
        <a:xfrm>
          <a:off x="0" y="0"/>
          <a:ext cx="0" cy="0"/>
          <a:chOff x="0" y="0"/>
          <a:chExt cx="0" cy="0"/>
        </a:xfrm>
      </p:grpSpPr>
      <p:sp>
        <p:nvSpPr>
          <p:cNvPr id="10297" name="Google Shape;10297;p8"/>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98" name="Google Shape;10298;p8"/>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99" name="Google Shape;10299;p8"/>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00" name="Google Shape;10300;p8"/>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01" name="Shape 10301"/>
        <p:cNvGrpSpPr/>
        <p:nvPr/>
      </p:nvGrpSpPr>
      <p:grpSpPr>
        <a:xfrm>
          <a:off x="0" y="0"/>
          <a:ext cx="0" cy="0"/>
          <a:chOff x="0" y="0"/>
          <a:chExt cx="0" cy="0"/>
        </a:xfrm>
      </p:grpSpPr>
      <p:sp>
        <p:nvSpPr>
          <p:cNvPr id="10302" name="Google Shape;10302;p9"/>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03" name="Google Shape;10303;p9"/>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04" name="Google Shape;10304;p9"/>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305" name="Shape 10305"/>
        <p:cNvGrpSpPr/>
        <p:nvPr/>
      </p:nvGrpSpPr>
      <p:grpSpPr>
        <a:xfrm>
          <a:off x="0" y="0"/>
          <a:ext cx="0" cy="0"/>
          <a:chOff x="0" y="0"/>
          <a:chExt cx="0" cy="0"/>
        </a:xfrm>
      </p:grpSpPr>
      <p:sp>
        <p:nvSpPr>
          <p:cNvPr id="10306" name="Google Shape;10306;p1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307" name="Google Shape;10307;p10"/>
          <p:cNvSpPr/>
          <p:nvPr>
            <p:ph idx="2" type="pic"/>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10308" name="Google Shape;10308;p1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0309" name="Google Shape;10309;p10"/>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10" name="Google Shape;10310;p10"/>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11" name="Google Shape;10311;p10"/>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312" name="Shape 10312"/>
        <p:cNvGrpSpPr/>
        <p:nvPr/>
      </p:nvGrpSpPr>
      <p:grpSpPr>
        <a:xfrm>
          <a:off x="0" y="0"/>
          <a:ext cx="0" cy="0"/>
          <a:chOff x="0" y="0"/>
          <a:chExt cx="0" cy="0"/>
        </a:xfrm>
      </p:grpSpPr>
      <p:sp>
        <p:nvSpPr>
          <p:cNvPr id="10313" name="Google Shape;10313;p11"/>
          <p:cNvSpPr txBox="1"/>
          <p:nvPr>
            <p:ph type="title"/>
          </p:nvPr>
        </p:nvSpPr>
        <p:spPr>
          <a:xfrm rot="5400000">
            <a:off x="7133400" y="1956625"/>
            <a:ext cx="5811900"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314" name="Google Shape;10314;p11"/>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15" name="Google Shape;10315;p11"/>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16" name="Google Shape;10316;p11"/>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17" name="Google Shape;10317;p11"/>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10318" name="Shape 10318"/>
        <p:cNvGrpSpPr/>
        <p:nvPr/>
      </p:nvGrpSpPr>
      <p:grpSpPr>
        <a:xfrm>
          <a:off x="0" y="0"/>
          <a:ext cx="0" cy="0"/>
          <a:chOff x="0" y="0"/>
          <a:chExt cx="0" cy="0"/>
        </a:xfrm>
      </p:grpSpPr>
      <p:sp>
        <p:nvSpPr>
          <p:cNvPr id="10319" name="Google Shape;10319;p12"/>
          <p:cNvSpPr txBox="1"/>
          <p:nvPr>
            <p:ph idx="1" type="body"/>
          </p:nvPr>
        </p:nvSpPr>
        <p:spPr>
          <a:xfrm>
            <a:off x="838200" y="365125"/>
            <a:ext cx="10515600" cy="58119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20" name="Google Shape;10320;p12"/>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21" name="Google Shape;10321;p12"/>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22" name="Google Shape;10322;p1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1.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alpha val="20390"/>
          </a:srgbClr>
        </a:solidFill>
      </p:bgPr>
    </p:bg>
    <p:spTree>
      <p:nvGrpSpPr>
        <p:cNvPr id="10253" name="Shape 10253"/>
        <p:cNvGrpSpPr/>
        <p:nvPr/>
      </p:nvGrpSpPr>
      <p:grpSpPr>
        <a:xfrm>
          <a:off x="0" y="0"/>
          <a:ext cx="0" cy="0"/>
          <a:chOff x="0" y="0"/>
          <a:chExt cx="0" cy="0"/>
        </a:xfrm>
      </p:grpSpPr>
      <p:pic>
        <p:nvPicPr>
          <p:cNvPr descr="Background pattern&#10;&#10;Description automatically generated" id="10254" name="Google Shape;10254;p1"/>
          <p:cNvPicPr preferRelativeResize="0"/>
          <p:nvPr/>
        </p:nvPicPr>
        <p:blipFill rotWithShape="1">
          <a:blip r:embed="rId1">
            <a:alphaModFix amt="50000"/>
          </a:blip>
          <a:srcRect b="0" l="0" r="0" t="0"/>
          <a:stretch/>
        </p:blipFill>
        <p:spPr>
          <a:xfrm>
            <a:off x="0" y="0"/>
            <a:ext cx="3003453" cy="3003453"/>
          </a:xfrm>
          <a:prstGeom prst="rect">
            <a:avLst/>
          </a:prstGeom>
          <a:noFill/>
          <a:ln>
            <a:noFill/>
          </a:ln>
        </p:spPr>
      </p:pic>
      <p:sp>
        <p:nvSpPr>
          <p:cNvPr id="10255" name="Google Shape;10255;p1"/>
          <p:cNvSpPr/>
          <p:nvPr/>
        </p:nvSpPr>
        <p:spPr>
          <a:xfrm>
            <a:off x="0" y="6812281"/>
            <a:ext cx="12192000" cy="45600"/>
          </a:xfrm>
          <a:prstGeom prst="rect">
            <a:avLst/>
          </a:prstGeom>
          <a:solidFill>
            <a:srgbClr val="BA25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56" name="Google Shape;10256;p1"/>
          <p:cNvSpPr/>
          <p:nvPr/>
        </p:nvSpPr>
        <p:spPr>
          <a:xfrm>
            <a:off x="0" y="0"/>
            <a:ext cx="12192000" cy="45600"/>
          </a:xfrm>
          <a:prstGeom prst="rect">
            <a:avLst/>
          </a:prstGeom>
          <a:solidFill>
            <a:srgbClr val="BA25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Background pattern&#10;&#10;Description automatically generated" id="10257" name="Google Shape;10257;p1"/>
          <p:cNvPicPr preferRelativeResize="0"/>
          <p:nvPr/>
        </p:nvPicPr>
        <p:blipFill rotWithShape="1">
          <a:blip r:embed="rId2">
            <a:alphaModFix amt="35000"/>
          </a:blip>
          <a:srcRect b="8105" l="0" r="26718" t="0"/>
          <a:stretch/>
        </p:blipFill>
        <p:spPr>
          <a:xfrm>
            <a:off x="8376334" y="4104641"/>
            <a:ext cx="3815666" cy="2707640"/>
          </a:xfrm>
          <a:prstGeom prst="rect">
            <a:avLst/>
          </a:prstGeom>
          <a:noFill/>
          <a:ln>
            <a:noFill/>
          </a:ln>
        </p:spPr>
      </p:pic>
      <p:sp>
        <p:nvSpPr>
          <p:cNvPr id="10258" name="Google Shape;10258;p1"/>
          <p:cNvSpPr txBox="1"/>
          <p:nvPr/>
        </p:nvSpPr>
        <p:spPr>
          <a:xfrm>
            <a:off x="1" y="6602979"/>
            <a:ext cx="2132100" cy="21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800" u="none" cap="none" strike="noStrike">
                <a:solidFill>
                  <a:srgbClr val="F2F2F2"/>
                </a:solidFill>
                <a:latin typeface="Calibri"/>
                <a:ea typeface="Calibri"/>
                <a:cs typeface="Calibri"/>
                <a:sym typeface="Calibri"/>
              </a:rPr>
              <a:t>CREATED BY K. VICTOR BABU</a:t>
            </a:r>
            <a:endParaRPr/>
          </a:p>
        </p:txBody>
      </p:sp>
      <p:pic>
        <p:nvPicPr>
          <p:cNvPr id="10259" name="Google Shape;10259;p1"/>
          <p:cNvPicPr preferRelativeResize="0"/>
          <p:nvPr/>
        </p:nvPicPr>
        <p:blipFill rotWithShape="1">
          <a:blip r:embed="rId3">
            <a:alphaModFix/>
          </a:blip>
          <a:srcRect b="0" l="0" r="0" t="0"/>
          <a:stretch/>
        </p:blipFill>
        <p:spPr>
          <a:xfrm>
            <a:off x="77702" y="45718"/>
            <a:ext cx="1112924" cy="58850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nptel.ac.in/courses/106102064" TargetMode="External"/><Relationship Id="rId4" Type="http://schemas.openxmlformats.org/officeDocument/2006/relationships/hyperlink" Target="https://in.udacity.com/course/intro-to-algorithms--cs215" TargetMode="External"/><Relationship Id="rId5" Type="http://schemas.openxmlformats.org/officeDocument/2006/relationships/hyperlink" Target="https://www.coursera.org/learn/data-structures?action=enrol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6" name="Shape 10326"/>
        <p:cNvGrpSpPr/>
        <p:nvPr/>
      </p:nvGrpSpPr>
      <p:grpSpPr>
        <a:xfrm>
          <a:off x="0" y="0"/>
          <a:ext cx="0" cy="0"/>
          <a:chOff x="0" y="0"/>
          <a:chExt cx="0" cy="0"/>
        </a:xfrm>
      </p:grpSpPr>
      <p:sp>
        <p:nvSpPr>
          <p:cNvPr id="10327" name="Google Shape;10327;p13"/>
          <p:cNvSpPr/>
          <p:nvPr/>
        </p:nvSpPr>
        <p:spPr>
          <a:xfrm>
            <a:off x="-1" y="0"/>
            <a:ext cx="12192000" cy="6858000"/>
          </a:xfrm>
          <a:prstGeom prst="rect">
            <a:avLst/>
          </a:prstGeom>
          <a:solidFill>
            <a:schemeClr val="lt1"/>
          </a:solidFill>
          <a:ln cap="flat" cmpd="sng" w="19050">
            <a:solidFill>
              <a:srgbClr val="BA8C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pic>
        <p:nvPicPr>
          <p:cNvPr id="10328" name="Google Shape;10328;p13"/>
          <p:cNvPicPr preferRelativeResize="0"/>
          <p:nvPr/>
        </p:nvPicPr>
        <p:blipFill rotWithShape="1">
          <a:blip r:embed="rId3">
            <a:alphaModFix/>
          </a:blip>
          <a:srcRect b="0" l="0" r="0" t="0"/>
          <a:stretch/>
        </p:blipFill>
        <p:spPr>
          <a:xfrm>
            <a:off x="0" y="117034"/>
            <a:ext cx="6027459" cy="6623930"/>
          </a:xfrm>
          <a:prstGeom prst="rect">
            <a:avLst/>
          </a:prstGeom>
          <a:noFill/>
          <a:ln>
            <a:noFill/>
          </a:ln>
        </p:spPr>
      </p:pic>
      <p:sp>
        <p:nvSpPr>
          <p:cNvPr id="10329" name="Google Shape;10329;p13"/>
          <p:cNvSpPr txBox="1"/>
          <p:nvPr/>
        </p:nvSpPr>
        <p:spPr>
          <a:xfrm>
            <a:off x="5394455" y="1933408"/>
            <a:ext cx="6902400" cy="3416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200" cap="none">
                <a:solidFill>
                  <a:srgbClr val="C00000"/>
                </a:solidFill>
                <a:latin typeface="Times New Roman"/>
                <a:ea typeface="Times New Roman"/>
                <a:cs typeface="Times New Roman"/>
                <a:sym typeface="Times New Roman"/>
              </a:rPr>
              <a:t>COURSE: </a:t>
            </a:r>
            <a:r>
              <a:rPr b="1" lang="en-IN" sz="3200">
                <a:solidFill>
                  <a:schemeClr val="accent1"/>
                </a:solidFill>
                <a:latin typeface="Times New Roman"/>
                <a:ea typeface="Times New Roman"/>
                <a:cs typeface="Times New Roman"/>
                <a:sym typeface="Times New Roman"/>
              </a:rPr>
              <a:t>Data Structures</a:t>
            </a:r>
            <a:endParaRPr b="1" sz="3200">
              <a:solidFill>
                <a:schemeClr val="accent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3200"/>
              <a:buFont typeface="Calibri"/>
              <a:buNone/>
            </a:pPr>
            <a:r>
              <a:t/>
            </a:r>
            <a:endParaRPr b="1" sz="3200" cap="none">
              <a:solidFill>
                <a:srgbClr val="C00000"/>
              </a:solidFill>
              <a:latin typeface="Times New Roman"/>
              <a:ea typeface="Times New Roman"/>
              <a:cs typeface="Times New Roman"/>
              <a:sym typeface="Times New Roman"/>
            </a:endParaRPr>
          </a:p>
          <a:p>
            <a:pPr indent="0" lvl="0" marL="0" marR="0" rtl="0" algn="ctr">
              <a:spcBef>
                <a:spcPts val="0"/>
              </a:spcBef>
              <a:spcAft>
                <a:spcPts val="0"/>
              </a:spcAft>
              <a:buNone/>
            </a:pPr>
            <a:r>
              <a:rPr b="1" lang="en-IN" sz="3200" cap="none">
                <a:solidFill>
                  <a:srgbClr val="C00000"/>
                </a:solidFill>
                <a:latin typeface="Times New Roman"/>
                <a:ea typeface="Times New Roman"/>
                <a:cs typeface="Times New Roman"/>
                <a:sym typeface="Times New Roman"/>
              </a:rPr>
              <a:t>COURSE CODE: </a:t>
            </a:r>
            <a:r>
              <a:rPr b="1" lang="en-IN" sz="3200">
                <a:solidFill>
                  <a:schemeClr val="accent1"/>
                </a:solidFill>
                <a:latin typeface="Times New Roman"/>
                <a:ea typeface="Times New Roman"/>
                <a:cs typeface="Times New Roman"/>
                <a:sym typeface="Times New Roman"/>
              </a:rPr>
              <a:t>23SC1202</a:t>
            </a:r>
            <a:endParaRPr b="1" sz="3200">
              <a:solidFill>
                <a:schemeClr val="accent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2000"/>
              <a:buFont typeface="Calibri"/>
              <a:buNone/>
            </a:pPr>
            <a:r>
              <a:t/>
            </a:r>
            <a:endParaRPr b="1" sz="2000">
              <a:solidFill>
                <a:srgbClr val="7F7F7F"/>
              </a:solidFill>
              <a:latin typeface="Times New Roman"/>
              <a:ea typeface="Times New Roman"/>
              <a:cs typeface="Times New Roman"/>
              <a:sym typeface="Times New Roman"/>
            </a:endParaRPr>
          </a:p>
          <a:p>
            <a:pPr indent="0" lvl="0" marL="0" marR="0" rtl="0" algn="ctr">
              <a:spcBef>
                <a:spcPts val="0"/>
              </a:spcBef>
              <a:spcAft>
                <a:spcPts val="0"/>
              </a:spcAft>
              <a:buClr>
                <a:srgbClr val="7F7F7F"/>
              </a:buClr>
              <a:buSzPts val="2000"/>
              <a:buFont typeface="Times New Roman"/>
              <a:buNone/>
            </a:pPr>
            <a:r>
              <a:rPr b="1" lang="en-IN" sz="2000">
                <a:solidFill>
                  <a:srgbClr val="7F7F7F"/>
                </a:solidFill>
                <a:latin typeface="Times New Roman"/>
                <a:ea typeface="Times New Roman"/>
                <a:cs typeface="Times New Roman"/>
                <a:sym typeface="Times New Roman"/>
              </a:rPr>
              <a:t>Topic: </a:t>
            </a:r>
            <a:endParaRPr/>
          </a:p>
          <a:p>
            <a:pPr indent="0" lvl="0" marL="0" marR="0" rtl="0" algn="ctr">
              <a:spcBef>
                <a:spcPts val="0"/>
              </a:spcBef>
              <a:spcAft>
                <a:spcPts val="0"/>
              </a:spcAft>
              <a:buClr>
                <a:srgbClr val="C00000"/>
              </a:buClr>
              <a:buSzPts val="4000"/>
              <a:buFont typeface="Times New Roman"/>
              <a:buNone/>
            </a:pPr>
            <a:r>
              <a:rPr b="1" lang="en-IN" sz="4000" cap="none">
                <a:solidFill>
                  <a:srgbClr val="C00000"/>
                </a:solidFill>
                <a:latin typeface="Times New Roman"/>
                <a:ea typeface="Times New Roman"/>
                <a:cs typeface="Times New Roman"/>
                <a:sym typeface="Times New Roman"/>
              </a:rPr>
              <a:t>NAME OF THE TOPIC: </a:t>
            </a:r>
            <a:endParaRPr/>
          </a:p>
          <a:p>
            <a:pPr indent="0" lvl="0" marL="0" marR="0" rtl="0" algn="ctr">
              <a:spcBef>
                <a:spcPts val="0"/>
              </a:spcBef>
              <a:spcAft>
                <a:spcPts val="0"/>
              </a:spcAft>
              <a:buClr>
                <a:srgbClr val="00B0F0"/>
              </a:buClr>
              <a:buSzPts val="4000"/>
              <a:buFont typeface="Times New Roman"/>
              <a:buNone/>
            </a:pPr>
            <a:r>
              <a:rPr b="1" lang="en-IN" sz="4000">
                <a:solidFill>
                  <a:srgbClr val="00B0F0"/>
                </a:solidFill>
                <a:latin typeface="Times New Roman"/>
                <a:ea typeface="Times New Roman"/>
                <a:cs typeface="Times New Roman"/>
                <a:sym typeface="Times New Roman"/>
              </a:rPr>
              <a:t>Binary trees</a:t>
            </a:r>
            <a:endParaRPr b="1" sz="4000">
              <a:solidFill>
                <a:srgbClr val="C00000"/>
              </a:solidFill>
              <a:latin typeface="Times New Roman"/>
              <a:ea typeface="Times New Roman"/>
              <a:cs typeface="Times New Roman"/>
              <a:sym typeface="Times New Roman"/>
            </a:endParaRPr>
          </a:p>
        </p:txBody>
      </p:sp>
      <p:sp>
        <p:nvSpPr>
          <p:cNvPr id="10330" name="Google Shape;10330;p13"/>
          <p:cNvSpPr/>
          <p:nvPr/>
        </p:nvSpPr>
        <p:spPr>
          <a:xfrm>
            <a:off x="6233250" y="925390"/>
            <a:ext cx="4486200" cy="574800"/>
          </a:xfrm>
          <a:prstGeom prst="roundRect">
            <a:avLst>
              <a:gd fmla="val 16667" name="adj"/>
            </a:avLst>
          </a:prstGeom>
          <a:solidFill>
            <a:schemeClr val="lt1">
              <a:alpha val="5880"/>
            </a:schemeClr>
          </a:solidFill>
          <a:ln cap="flat" cmpd="sng" w="19050">
            <a:solidFill>
              <a:srgbClr val="C00000"/>
            </a:solidFill>
            <a:prstDash val="solid"/>
            <a:round/>
            <a:headEnd len="sm" w="sm" type="none"/>
            <a:tailEnd len="sm" w="sm" type="none"/>
          </a:ln>
          <a:effectLst>
            <a:innerShdw blurRad="114300">
              <a:srgbClr val="D8D8D8">
                <a:alpha val="100000"/>
              </a:srgbClr>
            </a:inn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0331" name="Google Shape;10331;p13"/>
          <p:cNvSpPr txBox="1"/>
          <p:nvPr/>
        </p:nvSpPr>
        <p:spPr>
          <a:xfrm>
            <a:off x="6095999" y="830715"/>
            <a:ext cx="4595400" cy="707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4000">
                <a:solidFill>
                  <a:srgbClr val="C00000"/>
                </a:solidFill>
                <a:latin typeface="Times New Roman"/>
                <a:ea typeface="Times New Roman"/>
                <a:cs typeface="Times New Roman"/>
                <a:sym typeface="Times New Roman"/>
              </a:rPr>
              <a:t>Department of </a:t>
            </a:r>
            <a:r>
              <a:rPr lang="en-IN" sz="4000">
                <a:solidFill>
                  <a:srgbClr val="FF0000"/>
                </a:solidFill>
                <a:latin typeface="Times New Roman"/>
                <a:ea typeface="Times New Roman"/>
                <a:cs typeface="Times New Roman"/>
                <a:sym typeface="Times New Roman"/>
              </a:rPr>
              <a:t>BES-I</a:t>
            </a:r>
            <a:endParaRPr/>
          </a:p>
        </p:txBody>
      </p:sp>
      <p:sp>
        <p:nvSpPr>
          <p:cNvPr id="10332" name="Google Shape;10332;p13"/>
          <p:cNvSpPr/>
          <p:nvPr/>
        </p:nvSpPr>
        <p:spPr>
          <a:xfrm>
            <a:off x="7276164" y="5572270"/>
            <a:ext cx="2235000" cy="453000"/>
          </a:xfrm>
          <a:prstGeom prst="roundRect">
            <a:avLst>
              <a:gd fmla="val 35613" name="adj"/>
            </a:avLst>
          </a:prstGeom>
          <a:solidFill>
            <a:srgbClr val="C00000"/>
          </a:solidFill>
          <a:ln>
            <a:noFill/>
          </a:ln>
          <a:effectLst>
            <a:outerShdw blurRad="190500" sx="102000" rotWithShape="0" algn="ctr" sy="102000">
              <a:srgbClr val="000000">
                <a:alpha val="2431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2400"/>
              <a:buFont typeface="Times New Roman"/>
              <a:buNone/>
            </a:pPr>
            <a:r>
              <a:rPr lang="en-IN" sz="2400">
                <a:solidFill>
                  <a:schemeClr val="lt1"/>
                </a:solidFill>
                <a:latin typeface="Times New Roman"/>
                <a:ea typeface="Times New Roman"/>
                <a:cs typeface="Times New Roman"/>
                <a:sym typeface="Times New Roman"/>
              </a:rPr>
              <a:t>Session – 23</a:t>
            </a:r>
            <a:endParaRPr sz="2400">
              <a:solidFill>
                <a:schemeClr val="lt1"/>
              </a:solidFill>
              <a:latin typeface="Times New Roman"/>
              <a:ea typeface="Times New Roman"/>
              <a:cs typeface="Times New Roman"/>
              <a:sym typeface="Times New Roman"/>
            </a:endParaRPr>
          </a:p>
        </p:txBody>
      </p:sp>
      <p:sp>
        <p:nvSpPr>
          <p:cNvPr id="10333" name="Google Shape;10333;p13"/>
          <p:cNvSpPr/>
          <p:nvPr/>
        </p:nvSpPr>
        <p:spPr>
          <a:xfrm>
            <a:off x="0" y="6812281"/>
            <a:ext cx="12192000" cy="45600"/>
          </a:xfrm>
          <a:prstGeom prst="rect">
            <a:avLst/>
          </a:prstGeom>
          <a:solidFill>
            <a:srgbClr val="BA25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0334" name="Google Shape;10334;p13"/>
          <p:cNvSpPr/>
          <p:nvPr/>
        </p:nvSpPr>
        <p:spPr>
          <a:xfrm>
            <a:off x="0" y="0"/>
            <a:ext cx="12192000" cy="45600"/>
          </a:xfrm>
          <a:prstGeom prst="rect">
            <a:avLst/>
          </a:prstGeom>
          <a:solidFill>
            <a:srgbClr val="BA25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pic>
        <p:nvPicPr>
          <p:cNvPr id="10335" name="Google Shape;10335;p13"/>
          <p:cNvPicPr preferRelativeResize="0"/>
          <p:nvPr/>
        </p:nvPicPr>
        <p:blipFill rotWithShape="1">
          <a:blip r:embed="rId4">
            <a:alphaModFix/>
          </a:blip>
          <a:srcRect b="0" l="0" r="0" t="0"/>
          <a:stretch/>
        </p:blipFill>
        <p:spPr>
          <a:xfrm>
            <a:off x="77702" y="45718"/>
            <a:ext cx="1977130" cy="1045494"/>
          </a:xfrm>
          <a:prstGeom prst="rect">
            <a:avLst/>
          </a:prstGeom>
          <a:noFill/>
          <a:ln>
            <a:noFill/>
          </a:ln>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9" name="Shape 10339"/>
        <p:cNvGrpSpPr/>
        <p:nvPr/>
      </p:nvGrpSpPr>
      <p:grpSpPr>
        <a:xfrm>
          <a:off x="0" y="0"/>
          <a:ext cx="0" cy="0"/>
          <a:chOff x="0" y="0"/>
          <a:chExt cx="0" cy="0"/>
        </a:xfrm>
      </p:grpSpPr>
      <p:sp>
        <p:nvSpPr>
          <p:cNvPr id="10340" name="Google Shape;10340;p14"/>
          <p:cNvSpPr/>
          <p:nvPr/>
        </p:nvSpPr>
        <p:spPr>
          <a:xfrm>
            <a:off x="4471372" y="84408"/>
            <a:ext cx="3011700" cy="3906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2000">
                <a:solidFill>
                  <a:schemeClr val="lt1"/>
                </a:solidFill>
                <a:latin typeface="Times New Roman"/>
                <a:ea typeface="Times New Roman"/>
                <a:cs typeface="Times New Roman"/>
                <a:sym typeface="Times New Roman"/>
              </a:rPr>
              <a:t>AIM OF THE SESSION</a:t>
            </a:r>
            <a:endParaRPr/>
          </a:p>
        </p:txBody>
      </p:sp>
      <p:sp>
        <p:nvSpPr>
          <p:cNvPr id="10341" name="Google Shape;10341;p14"/>
          <p:cNvSpPr txBox="1"/>
          <p:nvPr/>
        </p:nvSpPr>
        <p:spPr>
          <a:xfrm>
            <a:off x="914400" y="684469"/>
            <a:ext cx="10731300" cy="796200"/>
          </a:xfrm>
          <a:prstGeom prst="rect">
            <a:avLst/>
          </a:prstGeom>
          <a:gradFill>
            <a:gsLst>
              <a:gs pos="0">
                <a:srgbClr val="F6F9FC">
                  <a:alpha val="0"/>
                </a:srgbClr>
              </a:gs>
              <a:gs pos="100000">
                <a:srgbClr val="CCE0F2"/>
              </a:gs>
            </a:gsLst>
            <a:path path="circle">
              <a:fillToRect b="50%" l="50%" r="50%" t="50%"/>
            </a:path>
            <a:tileRect/>
          </a:gradFill>
          <a:ln cap="rnd" cmpd="sng" w="9525">
            <a:solidFill>
              <a:srgbClr val="DDEAF6"/>
            </a:solidFill>
            <a:prstDash val="solid"/>
            <a:round/>
            <a:headEnd len="sm" w="sm" type="none"/>
            <a:tailEnd len="sm" w="sm" type="none"/>
          </a:ln>
          <a:effectLst>
            <a:outerShdw blurRad="50800" rotWithShape="0" algn="l" dist="38100">
              <a:srgbClr val="BBD6EE">
                <a:alpha val="0"/>
              </a:srgbClr>
            </a:outerShdw>
          </a:effectLst>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N" sz="1600">
                <a:solidFill>
                  <a:schemeClr val="dk1"/>
                </a:solidFill>
                <a:latin typeface="Times New Roman"/>
                <a:ea typeface="Times New Roman"/>
                <a:cs typeface="Times New Roman"/>
                <a:sym typeface="Times New Roman"/>
              </a:rPr>
              <a:t>To familiarize students with the basic concept of Binary tree</a:t>
            </a:r>
            <a:endParaRPr/>
          </a:p>
          <a:p>
            <a:pPr indent="0" lvl="0" marL="0" marR="0" rtl="0" algn="l">
              <a:lnSpc>
                <a:spcPct val="150000"/>
              </a:lnSpc>
              <a:spcBef>
                <a:spcPts val="0"/>
              </a:spcBef>
              <a:spcAft>
                <a:spcPts val="0"/>
              </a:spcAft>
              <a:buNone/>
            </a:pPr>
            <a:r>
              <a:t/>
            </a:r>
            <a:endParaRPr b="0" i="0" sz="1600">
              <a:solidFill>
                <a:schemeClr val="dk1"/>
              </a:solidFill>
              <a:latin typeface="Times New Roman"/>
              <a:ea typeface="Times New Roman"/>
              <a:cs typeface="Times New Roman"/>
              <a:sym typeface="Times New Roman"/>
            </a:endParaRPr>
          </a:p>
        </p:txBody>
      </p:sp>
      <p:sp>
        <p:nvSpPr>
          <p:cNvPr id="10342" name="Google Shape;10342;p14"/>
          <p:cNvSpPr/>
          <p:nvPr/>
        </p:nvSpPr>
        <p:spPr>
          <a:xfrm>
            <a:off x="4160582" y="1807062"/>
            <a:ext cx="3870900" cy="3906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2000">
                <a:solidFill>
                  <a:schemeClr val="lt1"/>
                </a:solidFill>
                <a:latin typeface="Times New Roman"/>
                <a:ea typeface="Times New Roman"/>
                <a:cs typeface="Times New Roman"/>
                <a:sym typeface="Times New Roman"/>
              </a:rPr>
              <a:t>INSTRUCTIONAL OBJECTIVES</a:t>
            </a:r>
            <a:endParaRPr/>
          </a:p>
        </p:txBody>
      </p:sp>
      <p:sp>
        <p:nvSpPr>
          <p:cNvPr id="10343" name="Google Shape;10343;p14"/>
          <p:cNvSpPr txBox="1"/>
          <p:nvPr/>
        </p:nvSpPr>
        <p:spPr>
          <a:xfrm>
            <a:off x="1752600" y="2438605"/>
            <a:ext cx="8791500" cy="1815900"/>
          </a:xfrm>
          <a:prstGeom prst="rect">
            <a:avLst/>
          </a:prstGeom>
          <a:gradFill>
            <a:gsLst>
              <a:gs pos="0">
                <a:srgbClr val="F6F9FC"/>
              </a:gs>
              <a:gs pos="100000">
                <a:srgbClr val="CCE0F2"/>
              </a:gs>
            </a:gsLst>
            <a:path path="circle">
              <a:fillToRect b="50%" l="50%" r="50%" t="50%"/>
            </a:path>
            <a:tileRect/>
          </a:gradFill>
          <a:ln cap="flat" cmpd="sng" w="9525">
            <a:solidFill>
              <a:srgbClr val="DDEAF6"/>
            </a:solidFill>
            <a:prstDash val="solid"/>
            <a:round/>
            <a:headEnd len="sm" w="sm" type="none"/>
            <a:tailEnd len="sm" w="sm" type="none"/>
          </a:ln>
          <a:effectLst>
            <a:outerShdw blurRad="50800" rotWithShape="0" algn="l" dist="38100">
              <a:srgbClr val="BBD6EE">
                <a:alpha val="40000"/>
              </a:srgbClr>
            </a:outerShdw>
          </a:effectLst>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lang="en-IN" sz="1600">
                <a:solidFill>
                  <a:schemeClr val="dk1"/>
                </a:solidFill>
                <a:latin typeface="Times New Roman"/>
                <a:ea typeface="Times New Roman"/>
                <a:cs typeface="Times New Roman"/>
                <a:sym typeface="Times New Roman"/>
              </a:rPr>
              <a:t>This</a:t>
            </a:r>
            <a:r>
              <a:rPr b="0" i="0" lang="en-IN" sz="1600">
                <a:solidFill>
                  <a:schemeClr val="dk1"/>
                </a:solidFill>
                <a:latin typeface="Times New Roman"/>
                <a:ea typeface="Times New Roman"/>
                <a:cs typeface="Times New Roman"/>
                <a:sym typeface="Times New Roman"/>
              </a:rPr>
              <a:t> </a:t>
            </a:r>
            <a:r>
              <a:rPr lang="en-IN" sz="1600">
                <a:solidFill>
                  <a:schemeClr val="dk1"/>
                </a:solidFill>
                <a:latin typeface="Times New Roman"/>
                <a:ea typeface="Times New Roman"/>
                <a:cs typeface="Times New Roman"/>
                <a:sym typeface="Times New Roman"/>
              </a:rPr>
              <a:t>Session</a:t>
            </a:r>
            <a:r>
              <a:rPr b="0" i="0" lang="en-IN" sz="1600">
                <a:solidFill>
                  <a:schemeClr val="dk1"/>
                </a:solidFill>
                <a:latin typeface="Times New Roman"/>
                <a:ea typeface="Times New Roman"/>
                <a:cs typeface="Times New Roman"/>
                <a:sym typeface="Times New Roman"/>
              </a:rPr>
              <a:t> is designed to: </a:t>
            </a:r>
            <a:endParaRPr/>
          </a:p>
          <a:p>
            <a:pPr indent="-342900" lvl="0" marL="342900" marR="0" rtl="0" algn="l">
              <a:spcBef>
                <a:spcPts val="0"/>
              </a:spcBef>
              <a:spcAft>
                <a:spcPts val="0"/>
              </a:spcAft>
              <a:buClr>
                <a:schemeClr val="dk1"/>
              </a:buClr>
              <a:buSzPts val="1600"/>
              <a:buFont typeface="Times New Roman"/>
              <a:buAutoNum type="arabicPeriod"/>
            </a:pPr>
            <a:r>
              <a:rPr b="0" i="0" lang="en-IN" sz="1600">
                <a:solidFill>
                  <a:schemeClr val="dk1"/>
                </a:solidFill>
                <a:latin typeface="Times New Roman"/>
                <a:ea typeface="Times New Roman"/>
                <a:cs typeface="Times New Roman"/>
                <a:sym typeface="Times New Roman"/>
              </a:rPr>
              <a:t>Demonstrate The </a:t>
            </a:r>
            <a:r>
              <a:rPr lang="en-IN" sz="1600">
                <a:solidFill>
                  <a:schemeClr val="dk1"/>
                </a:solidFill>
                <a:latin typeface="Times New Roman"/>
                <a:ea typeface="Times New Roman"/>
                <a:cs typeface="Times New Roman"/>
                <a:sym typeface="Times New Roman"/>
              </a:rPr>
              <a:t>Binary tree.</a:t>
            </a:r>
            <a:endParaRPr b="0" i="0" sz="16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600"/>
              <a:buFont typeface="Times New Roman"/>
              <a:buAutoNum type="arabicPeriod"/>
            </a:pPr>
            <a:r>
              <a:rPr b="0" i="0" lang="en-IN" sz="1600">
                <a:solidFill>
                  <a:schemeClr val="dk1"/>
                </a:solidFill>
                <a:latin typeface="Times New Roman"/>
                <a:ea typeface="Times New Roman"/>
                <a:cs typeface="Times New Roman"/>
                <a:sym typeface="Times New Roman"/>
              </a:rPr>
              <a:t>Describe the types of </a:t>
            </a:r>
            <a:r>
              <a:rPr lang="en-IN" sz="1600">
                <a:solidFill>
                  <a:schemeClr val="dk1"/>
                </a:solidFill>
                <a:latin typeface="Times New Roman"/>
                <a:ea typeface="Times New Roman"/>
                <a:cs typeface="Times New Roman"/>
                <a:sym typeface="Times New Roman"/>
              </a:rPr>
              <a:t>Binary tree traversals.</a:t>
            </a:r>
            <a:endParaRPr/>
          </a:p>
          <a:p>
            <a:pPr indent="-342900" lvl="0" marL="342900" marR="0" rtl="0" algn="l">
              <a:spcBef>
                <a:spcPts val="0"/>
              </a:spcBef>
              <a:spcAft>
                <a:spcPts val="0"/>
              </a:spcAft>
              <a:buClr>
                <a:schemeClr val="dk1"/>
              </a:buClr>
              <a:buSzPts val="1600"/>
              <a:buFont typeface="Times New Roman"/>
              <a:buAutoNum type="arabicPeriod"/>
            </a:pPr>
            <a:r>
              <a:rPr lang="en-IN" sz="1600">
                <a:solidFill>
                  <a:schemeClr val="dk1"/>
                </a:solidFill>
                <a:latin typeface="Times New Roman"/>
                <a:ea typeface="Times New Roman"/>
                <a:cs typeface="Times New Roman"/>
                <a:sym typeface="Times New Roman"/>
              </a:rPr>
              <a:t>Constructing</a:t>
            </a:r>
            <a:r>
              <a:rPr b="0" i="0" lang="en-IN" sz="1600">
                <a:solidFill>
                  <a:schemeClr val="dk1"/>
                </a:solidFill>
                <a:latin typeface="Times New Roman"/>
                <a:ea typeface="Times New Roman"/>
                <a:cs typeface="Times New Roman"/>
                <a:sym typeface="Times New Roman"/>
              </a:rPr>
              <a:t> </a:t>
            </a:r>
            <a:r>
              <a:rPr lang="en-IN" sz="1600">
                <a:solidFill>
                  <a:schemeClr val="dk1"/>
                </a:solidFill>
                <a:latin typeface="Times New Roman"/>
                <a:ea typeface="Times New Roman"/>
                <a:cs typeface="Times New Roman"/>
                <a:sym typeface="Times New Roman"/>
              </a:rPr>
              <a:t>Binary tree and traversals.</a:t>
            </a:r>
            <a:endParaRPr/>
          </a:p>
          <a:p>
            <a:pPr indent="-342900" lvl="0" marL="342900" marR="0" rtl="0" algn="l">
              <a:spcBef>
                <a:spcPts val="0"/>
              </a:spcBef>
              <a:spcAft>
                <a:spcPts val="0"/>
              </a:spcAft>
              <a:buClr>
                <a:schemeClr val="dk1"/>
              </a:buClr>
              <a:buSzPts val="1600"/>
              <a:buFont typeface="Times New Roman"/>
              <a:buAutoNum type="arabicPeriod"/>
            </a:pPr>
            <a:r>
              <a:rPr lang="en-IN" sz="1600">
                <a:solidFill>
                  <a:schemeClr val="dk1"/>
                </a:solidFill>
                <a:latin typeface="Times New Roman"/>
                <a:ea typeface="Times New Roman"/>
                <a:cs typeface="Times New Roman"/>
                <a:sym typeface="Times New Roman"/>
              </a:rPr>
              <a:t>Constructing an expression tree.</a:t>
            </a:r>
            <a:endParaRPr/>
          </a:p>
          <a:p>
            <a:pPr indent="-342900" lvl="0" marL="342900" marR="0" rtl="0" algn="l">
              <a:spcBef>
                <a:spcPts val="0"/>
              </a:spcBef>
              <a:spcAft>
                <a:spcPts val="0"/>
              </a:spcAft>
              <a:buClr>
                <a:schemeClr val="dk1"/>
              </a:buClr>
              <a:buSzPts val="1600"/>
              <a:buFont typeface="Times New Roman"/>
              <a:buAutoNum type="arabicPeriod"/>
            </a:pPr>
            <a:r>
              <a:rPr lang="en-IN" sz="1600">
                <a:solidFill>
                  <a:schemeClr val="dk1"/>
                </a:solidFill>
                <a:latin typeface="Times New Roman"/>
                <a:ea typeface="Times New Roman"/>
                <a:cs typeface="Times New Roman"/>
                <a:sym typeface="Times New Roman"/>
              </a:rPr>
              <a:t>List out the advantages and applications of Binary tree.</a:t>
            </a:r>
            <a:endParaRPr/>
          </a:p>
        </p:txBody>
      </p:sp>
      <p:pic>
        <p:nvPicPr>
          <p:cNvPr descr="Bullseye outline" id="10344" name="Google Shape;10344;p14"/>
          <p:cNvPicPr preferRelativeResize="0"/>
          <p:nvPr/>
        </p:nvPicPr>
        <p:blipFill rotWithShape="1">
          <a:blip r:embed="rId3">
            <a:alphaModFix/>
          </a:blip>
          <a:srcRect b="0" l="0" r="0" t="0"/>
          <a:stretch/>
        </p:blipFill>
        <p:spPr>
          <a:xfrm>
            <a:off x="0" y="625326"/>
            <a:ext cx="914400" cy="914400"/>
          </a:xfrm>
          <a:prstGeom prst="rect">
            <a:avLst/>
          </a:prstGeom>
          <a:noFill/>
          <a:ln>
            <a:noFill/>
          </a:ln>
        </p:spPr>
      </p:pic>
      <p:pic>
        <p:nvPicPr>
          <p:cNvPr descr="Presentation with checklist outline" id="10345" name="Google Shape;10345;p14"/>
          <p:cNvPicPr preferRelativeResize="0"/>
          <p:nvPr/>
        </p:nvPicPr>
        <p:blipFill rotWithShape="1">
          <a:blip r:embed="rId4">
            <a:alphaModFix/>
          </a:blip>
          <a:srcRect b="0" l="0" r="0" t="0"/>
          <a:stretch/>
        </p:blipFill>
        <p:spPr>
          <a:xfrm>
            <a:off x="838200" y="2438605"/>
            <a:ext cx="914400" cy="914400"/>
          </a:xfrm>
          <a:prstGeom prst="rect">
            <a:avLst/>
          </a:prstGeom>
          <a:noFill/>
          <a:ln>
            <a:noFill/>
          </a:ln>
        </p:spPr>
      </p:pic>
      <p:sp>
        <p:nvSpPr>
          <p:cNvPr id="10346" name="Google Shape;10346;p14"/>
          <p:cNvSpPr/>
          <p:nvPr/>
        </p:nvSpPr>
        <p:spPr>
          <a:xfrm>
            <a:off x="4212971" y="4249110"/>
            <a:ext cx="3870900" cy="3906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2000">
                <a:solidFill>
                  <a:schemeClr val="lt1"/>
                </a:solidFill>
                <a:latin typeface="Times New Roman"/>
                <a:ea typeface="Times New Roman"/>
                <a:cs typeface="Times New Roman"/>
                <a:sym typeface="Times New Roman"/>
              </a:rPr>
              <a:t>LEARNING OUTCOMES</a:t>
            </a:r>
            <a:endParaRPr/>
          </a:p>
        </p:txBody>
      </p:sp>
      <p:pic>
        <p:nvPicPr>
          <p:cNvPr descr="Idea outline" id="10347" name="Google Shape;10347;p14"/>
          <p:cNvPicPr preferRelativeResize="0"/>
          <p:nvPr/>
        </p:nvPicPr>
        <p:blipFill rotWithShape="1">
          <a:blip r:embed="rId5">
            <a:alphaModFix/>
          </a:blip>
          <a:srcRect b="0" l="0" r="0" t="0"/>
          <a:stretch/>
        </p:blipFill>
        <p:spPr>
          <a:xfrm>
            <a:off x="914400" y="4765771"/>
            <a:ext cx="914400" cy="914400"/>
          </a:xfrm>
          <a:prstGeom prst="rect">
            <a:avLst/>
          </a:prstGeom>
          <a:noFill/>
          <a:ln>
            <a:noFill/>
          </a:ln>
        </p:spPr>
      </p:pic>
      <p:sp>
        <p:nvSpPr>
          <p:cNvPr id="10348" name="Google Shape;10348;p14"/>
          <p:cNvSpPr txBox="1"/>
          <p:nvPr/>
        </p:nvSpPr>
        <p:spPr>
          <a:xfrm>
            <a:off x="1752600" y="4772230"/>
            <a:ext cx="8791500" cy="1354200"/>
          </a:xfrm>
          <a:prstGeom prst="rect">
            <a:avLst/>
          </a:prstGeom>
          <a:gradFill>
            <a:gsLst>
              <a:gs pos="0">
                <a:srgbClr val="F6F9FC"/>
              </a:gs>
              <a:gs pos="100000">
                <a:srgbClr val="CCE0F2"/>
              </a:gs>
            </a:gsLst>
            <a:path path="circle">
              <a:fillToRect b="50%" l="50%" r="50%" t="50%"/>
            </a:path>
            <a:tileRect/>
          </a:gradFill>
          <a:ln cap="flat" cmpd="sng" w="9525">
            <a:solidFill>
              <a:srgbClr val="DDEAF6"/>
            </a:solidFill>
            <a:prstDash val="solid"/>
            <a:round/>
            <a:headEnd len="sm" w="sm" type="none"/>
            <a:tailEnd len="sm" w="sm" type="none"/>
          </a:ln>
          <a:effectLst>
            <a:outerShdw blurRad="50800" rotWithShape="0" algn="l" dist="38100">
              <a:srgbClr val="BBD6EE">
                <a:alpha val="40000"/>
              </a:srgbClr>
            </a:outerShdw>
          </a:effectLst>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IN" sz="1600">
                <a:solidFill>
                  <a:schemeClr val="dk1"/>
                </a:solidFill>
                <a:latin typeface="Times New Roman"/>
                <a:ea typeface="Times New Roman"/>
                <a:cs typeface="Times New Roman"/>
                <a:sym typeface="Times New Roman"/>
              </a:rPr>
              <a:t>At the end of this </a:t>
            </a:r>
            <a:r>
              <a:rPr lang="en-IN" sz="1600">
                <a:solidFill>
                  <a:schemeClr val="dk1"/>
                </a:solidFill>
                <a:latin typeface="Times New Roman"/>
                <a:ea typeface="Times New Roman"/>
                <a:cs typeface="Times New Roman"/>
                <a:sym typeface="Times New Roman"/>
              </a:rPr>
              <a:t>session</a:t>
            </a:r>
            <a:r>
              <a:rPr b="0" i="0" lang="en-IN" sz="1600">
                <a:solidFill>
                  <a:schemeClr val="dk1"/>
                </a:solidFill>
                <a:latin typeface="Times New Roman"/>
                <a:ea typeface="Times New Roman"/>
                <a:cs typeface="Times New Roman"/>
                <a:sym typeface="Times New Roman"/>
              </a:rPr>
              <a:t>, you should be able to:</a:t>
            </a:r>
            <a:endParaRPr/>
          </a:p>
          <a:p>
            <a:pPr indent="-342900" lvl="0" marL="342900" marR="0" rtl="0" algn="l">
              <a:spcBef>
                <a:spcPts val="0"/>
              </a:spcBef>
              <a:spcAft>
                <a:spcPts val="0"/>
              </a:spcAft>
              <a:buClr>
                <a:schemeClr val="dk1"/>
              </a:buClr>
              <a:buSzPts val="1600"/>
              <a:buFont typeface="Times New Roman"/>
              <a:buAutoNum type="arabicPeriod"/>
            </a:pPr>
            <a:r>
              <a:rPr b="0" i="0" lang="en-IN" sz="1600">
                <a:solidFill>
                  <a:schemeClr val="dk1"/>
                </a:solidFill>
                <a:latin typeface="Times New Roman"/>
                <a:ea typeface="Times New Roman"/>
                <a:cs typeface="Times New Roman"/>
                <a:sym typeface="Times New Roman"/>
              </a:rPr>
              <a:t>Define </a:t>
            </a:r>
            <a:r>
              <a:rPr lang="en-IN" sz="1600">
                <a:solidFill>
                  <a:schemeClr val="dk1"/>
                </a:solidFill>
                <a:latin typeface="Times New Roman"/>
                <a:ea typeface="Times New Roman"/>
                <a:cs typeface="Times New Roman"/>
                <a:sym typeface="Times New Roman"/>
              </a:rPr>
              <a:t>Binary tree </a:t>
            </a:r>
            <a:endParaRPr/>
          </a:p>
          <a:p>
            <a:pPr indent="-342900" lvl="0" marL="342900" marR="0" rtl="0" algn="l">
              <a:spcBef>
                <a:spcPts val="0"/>
              </a:spcBef>
              <a:spcAft>
                <a:spcPts val="0"/>
              </a:spcAft>
              <a:buClr>
                <a:schemeClr val="dk1"/>
              </a:buClr>
              <a:buSzPts val="1600"/>
              <a:buFont typeface="Times New Roman"/>
              <a:buAutoNum type="arabicPeriod"/>
            </a:pPr>
            <a:r>
              <a:rPr b="0" i="0" lang="en-IN" sz="1600">
                <a:solidFill>
                  <a:schemeClr val="dk1"/>
                </a:solidFill>
                <a:latin typeface="Times New Roman"/>
                <a:ea typeface="Times New Roman"/>
                <a:cs typeface="Times New Roman"/>
                <a:sym typeface="Times New Roman"/>
              </a:rPr>
              <a:t>Describe </a:t>
            </a:r>
            <a:r>
              <a:rPr lang="en-IN" sz="1600">
                <a:solidFill>
                  <a:schemeClr val="dk1"/>
                </a:solidFill>
                <a:latin typeface="Times New Roman"/>
                <a:ea typeface="Times New Roman"/>
                <a:cs typeface="Times New Roman"/>
                <a:sym typeface="Times New Roman"/>
              </a:rPr>
              <a:t>the various</a:t>
            </a:r>
            <a:r>
              <a:rPr b="0" i="0" lang="en-IN" sz="1600">
                <a:solidFill>
                  <a:schemeClr val="dk1"/>
                </a:solidFill>
                <a:latin typeface="Times New Roman"/>
                <a:ea typeface="Times New Roman"/>
                <a:cs typeface="Times New Roman"/>
                <a:sym typeface="Times New Roman"/>
              </a:rPr>
              <a:t> traversals in </a:t>
            </a:r>
            <a:r>
              <a:rPr lang="en-IN" sz="1600">
                <a:solidFill>
                  <a:schemeClr val="dk1"/>
                </a:solidFill>
                <a:latin typeface="Times New Roman"/>
                <a:ea typeface="Times New Roman"/>
                <a:cs typeface="Times New Roman"/>
                <a:sym typeface="Times New Roman"/>
              </a:rPr>
              <a:t>Binary tree </a:t>
            </a:r>
            <a:r>
              <a:rPr lang="en-IN" sz="1800">
                <a:solidFill>
                  <a:schemeClr val="dk1"/>
                </a:solidFill>
                <a:latin typeface="Times New Roman"/>
                <a:ea typeface="Times New Roman"/>
                <a:cs typeface="Times New Roman"/>
                <a:sym typeface="Times New Roman"/>
              </a:rPr>
              <a:t>Expression tree construction</a:t>
            </a:r>
            <a:endParaRPr b="0" i="0" sz="16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600"/>
              <a:buFont typeface="Times New Roman"/>
              <a:buAutoNum type="arabicPeriod"/>
            </a:pPr>
            <a:r>
              <a:rPr lang="en-IN" sz="1600">
                <a:solidFill>
                  <a:schemeClr val="dk1"/>
                </a:solidFill>
                <a:latin typeface="Times New Roman"/>
                <a:ea typeface="Times New Roman"/>
                <a:cs typeface="Times New Roman"/>
                <a:sym typeface="Times New Roman"/>
              </a:rPr>
              <a:t>Summarize definition, types and operations of Binary tree and its applications</a:t>
            </a:r>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40"/>
                                        </p:tgtEl>
                                        <p:attrNameLst>
                                          <p:attrName>style.visibility</p:attrName>
                                        </p:attrNameLst>
                                      </p:cBhvr>
                                      <p:to>
                                        <p:strVal val="visible"/>
                                      </p:to>
                                    </p:set>
                                    <p:animEffect filter="fade" transition="in">
                                      <p:cBhvr>
                                        <p:cTn dur="500"/>
                                        <p:tgtEl>
                                          <p:spTgt spid="10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44"/>
                                        </p:tgtEl>
                                        <p:attrNameLst>
                                          <p:attrName>style.visibility</p:attrName>
                                        </p:attrNameLst>
                                      </p:cBhvr>
                                      <p:to>
                                        <p:strVal val="visible"/>
                                      </p:to>
                                    </p:set>
                                    <p:animEffect filter="fade" transition="in">
                                      <p:cBhvr>
                                        <p:cTn dur="500"/>
                                        <p:tgtEl>
                                          <p:spTgt spid="10344"/>
                                        </p:tgtEl>
                                      </p:cBhvr>
                                    </p:animEffect>
                                  </p:childTnLst>
                                </p:cTn>
                              </p:par>
                              <p:par>
                                <p:cTn fill="hold" nodeType="withEffect" presetClass="entr" presetID="10" presetSubtype="0">
                                  <p:stCondLst>
                                    <p:cond delay="0"/>
                                  </p:stCondLst>
                                  <p:childTnLst>
                                    <p:set>
                                      <p:cBhvr>
                                        <p:cTn dur="1" fill="hold">
                                          <p:stCondLst>
                                            <p:cond delay="0"/>
                                          </p:stCondLst>
                                        </p:cTn>
                                        <p:tgtEl>
                                          <p:spTgt spid="10341"/>
                                        </p:tgtEl>
                                        <p:attrNameLst>
                                          <p:attrName>style.visibility</p:attrName>
                                        </p:attrNameLst>
                                      </p:cBhvr>
                                      <p:to>
                                        <p:strVal val="visible"/>
                                      </p:to>
                                    </p:set>
                                    <p:animEffect filter="fade" transition="in">
                                      <p:cBhvr>
                                        <p:cTn dur="500"/>
                                        <p:tgtEl>
                                          <p:spTgt spid="10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42"/>
                                        </p:tgtEl>
                                        <p:attrNameLst>
                                          <p:attrName>style.visibility</p:attrName>
                                        </p:attrNameLst>
                                      </p:cBhvr>
                                      <p:to>
                                        <p:strVal val="visible"/>
                                      </p:to>
                                    </p:set>
                                    <p:animEffect filter="fade" transition="in">
                                      <p:cBhvr>
                                        <p:cTn dur="500"/>
                                        <p:tgtEl>
                                          <p:spTgt spid="10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43"/>
                                        </p:tgtEl>
                                        <p:attrNameLst>
                                          <p:attrName>style.visibility</p:attrName>
                                        </p:attrNameLst>
                                      </p:cBhvr>
                                      <p:to>
                                        <p:strVal val="visible"/>
                                      </p:to>
                                    </p:set>
                                    <p:animEffect filter="fade" transition="in">
                                      <p:cBhvr>
                                        <p:cTn dur="500"/>
                                        <p:tgtEl>
                                          <p:spTgt spid="10343"/>
                                        </p:tgtEl>
                                      </p:cBhvr>
                                    </p:animEffect>
                                  </p:childTnLst>
                                </p:cTn>
                              </p:par>
                              <p:par>
                                <p:cTn fill="hold" nodeType="withEffect" presetClass="entr" presetID="10" presetSubtype="0">
                                  <p:stCondLst>
                                    <p:cond delay="0"/>
                                  </p:stCondLst>
                                  <p:childTnLst>
                                    <p:set>
                                      <p:cBhvr>
                                        <p:cTn dur="1" fill="hold">
                                          <p:stCondLst>
                                            <p:cond delay="0"/>
                                          </p:stCondLst>
                                        </p:cTn>
                                        <p:tgtEl>
                                          <p:spTgt spid="10345"/>
                                        </p:tgtEl>
                                        <p:attrNameLst>
                                          <p:attrName>style.visibility</p:attrName>
                                        </p:attrNameLst>
                                      </p:cBhvr>
                                      <p:to>
                                        <p:strVal val="visible"/>
                                      </p:to>
                                    </p:set>
                                    <p:animEffect filter="fade" transition="in">
                                      <p:cBhvr>
                                        <p:cTn dur="500"/>
                                        <p:tgtEl>
                                          <p:spTgt spid="10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46"/>
                                        </p:tgtEl>
                                        <p:attrNameLst>
                                          <p:attrName>style.visibility</p:attrName>
                                        </p:attrNameLst>
                                      </p:cBhvr>
                                      <p:to>
                                        <p:strVal val="visible"/>
                                      </p:to>
                                    </p:set>
                                    <p:animEffect filter="fade" transition="in">
                                      <p:cBhvr>
                                        <p:cTn dur="500"/>
                                        <p:tgtEl>
                                          <p:spTgt spid="10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48"/>
                                        </p:tgtEl>
                                        <p:attrNameLst>
                                          <p:attrName>style.visibility</p:attrName>
                                        </p:attrNameLst>
                                      </p:cBhvr>
                                      <p:to>
                                        <p:strVal val="visible"/>
                                      </p:to>
                                    </p:set>
                                    <p:animEffect filter="fade" transition="in">
                                      <p:cBhvr>
                                        <p:cTn dur="500"/>
                                        <p:tgtEl>
                                          <p:spTgt spid="10348"/>
                                        </p:tgtEl>
                                      </p:cBhvr>
                                    </p:animEffect>
                                  </p:childTnLst>
                                </p:cTn>
                              </p:par>
                              <p:par>
                                <p:cTn fill="hold" nodeType="withEffect" presetClass="entr" presetID="10" presetSubtype="0">
                                  <p:stCondLst>
                                    <p:cond delay="0"/>
                                  </p:stCondLst>
                                  <p:childTnLst>
                                    <p:set>
                                      <p:cBhvr>
                                        <p:cTn dur="1" fill="hold">
                                          <p:stCondLst>
                                            <p:cond delay="0"/>
                                          </p:stCondLst>
                                        </p:cTn>
                                        <p:tgtEl>
                                          <p:spTgt spid="10347"/>
                                        </p:tgtEl>
                                        <p:attrNameLst>
                                          <p:attrName>style.visibility</p:attrName>
                                        </p:attrNameLst>
                                      </p:cBhvr>
                                      <p:to>
                                        <p:strVal val="visible"/>
                                      </p:to>
                                    </p:set>
                                    <p:animEffect filter="fade" transition="in">
                                      <p:cBhvr>
                                        <p:cTn dur="500"/>
                                        <p:tgtEl>
                                          <p:spTgt spid="10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3" name="Shape 10353"/>
        <p:cNvGrpSpPr/>
        <p:nvPr/>
      </p:nvGrpSpPr>
      <p:grpSpPr>
        <a:xfrm>
          <a:off x="0" y="0"/>
          <a:ext cx="0" cy="0"/>
          <a:chOff x="0" y="0"/>
          <a:chExt cx="0" cy="0"/>
        </a:xfrm>
      </p:grpSpPr>
      <p:sp>
        <p:nvSpPr>
          <p:cNvPr id="10354" name="Google Shape;10354;p15"/>
          <p:cNvSpPr/>
          <p:nvPr/>
        </p:nvSpPr>
        <p:spPr>
          <a:xfrm>
            <a:off x="1579418" y="84673"/>
            <a:ext cx="8324100" cy="11979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IN" sz="3600">
                <a:solidFill>
                  <a:schemeClr val="lt1"/>
                </a:solidFill>
                <a:latin typeface="Times New Roman"/>
                <a:ea typeface="Times New Roman"/>
                <a:cs typeface="Times New Roman"/>
                <a:sym typeface="Times New Roman"/>
              </a:rPr>
              <a:t>Binary tree</a:t>
            </a:r>
            <a:endParaRPr sz="36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IN" sz="2400">
                <a:solidFill>
                  <a:schemeClr val="lt1"/>
                </a:solidFill>
                <a:latin typeface="Times New Roman"/>
                <a:ea typeface="Times New Roman"/>
                <a:cs typeface="Times New Roman"/>
                <a:sym typeface="Times New Roman"/>
              </a:rPr>
              <a:t>INTRODUCTION </a:t>
            </a:r>
            <a:endParaRPr/>
          </a:p>
        </p:txBody>
      </p:sp>
      <p:sp>
        <p:nvSpPr>
          <p:cNvPr id="10355" name="Google Shape;10355;p15"/>
          <p:cNvSpPr txBox="1"/>
          <p:nvPr/>
        </p:nvSpPr>
        <p:spPr>
          <a:xfrm>
            <a:off x="375781" y="1465781"/>
            <a:ext cx="11336100" cy="5016900"/>
          </a:xfrm>
          <a:prstGeom prst="rect">
            <a:avLst/>
          </a:prstGeom>
          <a:noFill/>
          <a:ln>
            <a:noFill/>
          </a:ln>
        </p:spPr>
        <p:txBody>
          <a:bodyPr anchorCtr="0" anchor="t" bIns="45700" lIns="91425" spcFirstLastPara="1" rIns="91425" wrap="square" tIns="45700">
            <a:spAutoFit/>
          </a:bodyPr>
          <a:lstStyle/>
          <a:p>
            <a:pPr indent="-203200" lvl="0" marL="0" marR="0" rtl="0" algn="just">
              <a:spcBef>
                <a:spcPts val="0"/>
              </a:spcBef>
              <a:spcAft>
                <a:spcPts val="0"/>
              </a:spcAft>
              <a:buClr>
                <a:schemeClr val="dk1"/>
              </a:buClr>
              <a:buSzPts val="3200"/>
              <a:buFont typeface="Noto Sans Symbols"/>
              <a:buChar char="⮚"/>
            </a:pPr>
            <a:r>
              <a:rPr lang="en-IN" sz="3200">
                <a:solidFill>
                  <a:schemeClr val="dk1"/>
                </a:solidFill>
                <a:latin typeface="Times New Roman"/>
                <a:ea typeface="Times New Roman"/>
                <a:cs typeface="Times New Roman"/>
                <a:sym typeface="Times New Roman"/>
              </a:rPr>
              <a:t> </a:t>
            </a:r>
            <a:r>
              <a:rPr b="0" i="0" lang="en-IN" sz="3200">
                <a:solidFill>
                  <a:srgbClr val="333333"/>
                </a:solidFill>
                <a:latin typeface="Times New Roman"/>
                <a:ea typeface="Times New Roman"/>
                <a:cs typeface="Times New Roman"/>
                <a:sym typeface="Times New Roman"/>
              </a:rPr>
              <a:t>A binary tree is a special type of tree data structure in which every node can have a </a:t>
            </a:r>
            <a:r>
              <a:rPr b="1" i="0" lang="en-IN" sz="3200">
                <a:solidFill>
                  <a:srgbClr val="333333"/>
                </a:solidFill>
                <a:latin typeface="Times New Roman"/>
                <a:ea typeface="Times New Roman"/>
                <a:cs typeface="Times New Roman"/>
                <a:sym typeface="Times New Roman"/>
              </a:rPr>
              <a:t>maximum of 2 children</a:t>
            </a:r>
            <a:r>
              <a:rPr b="0" i="0" lang="en-IN" sz="3200">
                <a:solidFill>
                  <a:srgbClr val="333333"/>
                </a:solidFill>
                <a:latin typeface="Times New Roman"/>
                <a:ea typeface="Times New Roman"/>
                <a:cs typeface="Times New Roman"/>
                <a:sym typeface="Times New Roman"/>
              </a:rPr>
              <a:t>. One is known as a left child and the other is known as right child.</a:t>
            </a:r>
            <a:endParaRPr/>
          </a:p>
          <a:p>
            <a:pPr indent="0" lvl="0" marL="0" marR="0" rtl="0" algn="just">
              <a:spcBef>
                <a:spcPts val="0"/>
              </a:spcBef>
              <a:spcAft>
                <a:spcPts val="0"/>
              </a:spcAft>
              <a:buNone/>
            </a:pPr>
            <a:r>
              <a:rPr b="1" i="0" lang="en-IN" sz="3200">
                <a:solidFill>
                  <a:srgbClr val="162F59"/>
                </a:solidFill>
                <a:latin typeface="Times New Roman"/>
                <a:ea typeface="Times New Roman"/>
                <a:cs typeface="Times New Roman"/>
                <a:sym typeface="Times New Roman"/>
              </a:rPr>
              <a:t>Example</a:t>
            </a:r>
            <a:endParaRPr/>
          </a:p>
          <a:p>
            <a:pPr indent="0" lvl="0" marL="0" marR="0" rtl="0" algn="just">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pic>
        <p:nvPicPr>
          <p:cNvPr id="10356" name="Google Shape;10356;p15"/>
          <p:cNvPicPr preferRelativeResize="0"/>
          <p:nvPr/>
        </p:nvPicPr>
        <p:blipFill rotWithShape="1">
          <a:blip r:embed="rId3">
            <a:alphaModFix/>
          </a:blip>
          <a:srcRect b="0" l="0" r="0" t="0"/>
          <a:stretch/>
        </p:blipFill>
        <p:spPr>
          <a:xfrm>
            <a:off x="1990724" y="3585360"/>
            <a:ext cx="7636162" cy="3272640"/>
          </a:xfrm>
          <a:prstGeom prst="rect">
            <a:avLst/>
          </a:prstGeom>
          <a:noFill/>
          <a:ln>
            <a:noFill/>
          </a:ln>
        </p:spPr>
      </p:pic>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0" name="Shape 10360"/>
        <p:cNvGrpSpPr/>
        <p:nvPr/>
      </p:nvGrpSpPr>
      <p:grpSpPr>
        <a:xfrm>
          <a:off x="0" y="0"/>
          <a:ext cx="0" cy="0"/>
          <a:chOff x="0" y="0"/>
          <a:chExt cx="0" cy="0"/>
        </a:xfrm>
      </p:grpSpPr>
      <p:sp>
        <p:nvSpPr>
          <p:cNvPr id="10361" name="Google Shape;10361;p16"/>
          <p:cNvSpPr txBox="1"/>
          <p:nvPr>
            <p:ph idx="1" type="body"/>
          </p:nvPr>
        </p:nvSpPr>
        <p:spPr>
          <a:xfrm>
            <a:off x="838200" y="1825625"/>
            <a:ext cx="5628600" cy="43512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b="1" i="0" lang="en-IN">
                <a:latin typeface="Times New Roman"/>
                <a:ea typeface="Times New Roman"/>
                <a:cs typeface="Times New Roman"/>
                <a:sym typeface="Times New Roman"/>
              </a:rPr>
              <a:t>1. Root</a:t>
            </a:r>
            <a:endParaRPr/>
          </a:p>
          <a:p>
            <a:pPr indent="0" lvl="0" marL="0" rtl="0" algn="just">
              <a:lnSpc>
                <a:spcPct val="90000"/>
              </a:lnSpc>
              <a:spcBef>
                <a:spcPts val="1000"/>
              </a:spcBef>
              <a:spcAft>
                <a:spcPts val="0"/>
              </a:spcAft>
              <a:buClr>
                <a:srgbClr val="333333"/>
              </a:buClr>
              <a:buSzPts val="1600"/>
              <a:buNone/>
            </a:pPr>
            <a:r>
              <a:rPr b="0" i="0" lang="en-IN" sz="1600">
                <a:solidFill>
                  <a:srgbClr val="333333"/>
                </a:solidFill>
                <a:latin typeface="Times New Roman"/>
                <a:ea typeface="Times New Roman"/>
                <a:cs typeface="Times New Roman"/>
                <a:sym typeface="Times New Roman"/>
              </a:rPr>
              <a:t>In a tree data structure, the first node is called as </a:t>
            </a:r>
            <a:r>
              <a:rPr b="1" i="0" lang="en-IN" sz="1600">
                <a:solidFill>
                  <a:srgbClr val="333333"/>
                </a:solidFill>
                <a:latin typeface="Times New Roman"/>
                <a:ea typeface="Times New Roman"/>
                <a:cs typeface="Times New Roman"/>
                <a:sym typeface="Times New Roman"/>
              </a:rPr>
              <a:t>Root Node</a:t>
            </a:r>
            <a:r>
              <a:rPr b="0" i="0" lang="en-IN" sz="1600">
                <a:solidFill>
                  <a:srgbClr val="333333"/>
                </a:solidFill>
                <a:latin typeface="Times New Roman"/>
                <a:ea typeface="Times New Roman"/>
                <a:cs typeface="Times New Roman"/>
                <a:sym typeface="Times New Roman"/>
              </a:rPr>
              <a:t>. </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10362" name="Google Shape;10362;p16"/>
          <p:cNvSpPr/>
          <p:nvPr/>
        </p:nvSpPr>
        <p:spPr>
          <a:xfrm>
            <a:off x="1546367" y="319049"/>
            <a:ext cx="8324100" cy="11979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600">
                <a:solidFill>
                  <a:schemeClr val="lt1"/>
                </a:solidFill>
                <a:latin typeface="Times New Roman"/>
                <a:ea typeface="Times New Roman"/>
                <a:cs typeface="Times New Roman"/>
                <a:sym typeface="Times New Roman"/>
              </a:rPr>
              <a:t>Tree - Terminology</a:t>
            </a:r>
            <a:endParaRPr/>
          </a:p>
        </p:txBody>
      </p:sp>
      <p:pic>
        <p:nvPicPr>
          <p:cNvPr id="10363" name="Google Shape;10363;p16"/>
          <p:cNvPicPr preferRelativeResize="0"/>
          <p:nvPr/>
        </p:nvPicPr>
        <p:blipFill rotWithShape="1">
          <a:blip r:embed="rId3">
            <a:alphaModFix/>
          </a:blip>
          <a:srcRect b="0" l="0" r="0" t="0"/>
          <a:stretch/>
        </p:blipFill>
        <p:spPr>
          <a:xfrm>
            <a:off x="739048" y="3531595"/>
            <a:ext cx="5628702" cy="2857500"/>
          </a:xfrm>
          <a:prstGeom prst="rect">
            <a:avLst/>
          </a:prstGeom>
          <a:noFill/>
          <a:ln>
            <a:noFill/>
          </a:ln>
        </p:spPr>
      </p:pic>
      <p:sp>
        <p:nvSpPr>
          <p:cNvPr id="10364" name="Google Shape;10364;p16"/>
          <p:cNvSpPr txBox="1"/>
          <p:nvPr/>
        </p:nvSpPr>
        <p:spPr>
          <a:xfrm>
            <a:off x="6367749" y="1807109"/>
            <a:ext cx="6097800" cy="1415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200">
                <a:solidFill>
                  <a:schemeClr val="dk1"/>
                </a:solidFill>
                <a:latin typeface="Times New Roman"/>
                <a:ea typeface="Times New Roman"/>
                <a:cs typeface="Times New Roman"/>
                <a:sym typeface="Times New Roman"/>
              </a:rPr>
              <a:t>2. Edge</a:t>
            </a:r>
            <a:endParaRPr/>
          </a:p>
          <a:p>
            <a:pPr indent="0" lvl="0" marL="0" marR="0" rtl="0" algn="l">
              <a:spcBef>
                <a:spcPts val="0"/>
              </a:spcBef>
              <a:spcAft>
                <a:spcPts val="0"/>
              </a:spcAft>
              <a:buNone/>
            </a:pPr>
            <a:r>
              <a:rPr lang="en-IN" sz="1800">
                <a:solidFill>
                  <a:schemeClr val="dk1"/>
                </a:solidFill>
                <a:latin typeface="Times New Roman"/>
                <a:ea typeface="Times New Roman"/>
                <a:cs typeface="Times New Roman"/>
                <a:sym typeface="Times New Roman"/>
              </a:rPr>
              <a:t>In a tree data structure, the connecting link between any two nodes is called as EDGE. In a tree with 'N' number of nodes there will be a maximum of 'N-1' number of edges.</a:t>
            </a:r>
            <a:endParaRPr/>
          </a:p>
        </p:txBody>
      </p:sp>
      <p:pic>
        <p:nvPicPr>
          <p:cNvPr descr="tree data structure" id="10365" name="Google Shape;10365;p16"/>
          <p:cNvPicPr preferRelativeResize="0"/>
          <p:nvPr/>
        </p:nvPicPr>
        <p:blipFill rotWithShape="1">
          <a:blip r:embed="rId4">
            <a:alphaModFix/>
          </a:blip>
          <a:srcRect b="0" l="0" r="0" t="0"/>
          <a:stretch/>
        </p:blipFill>
        <p:spPr>
          <a:xfrm>
            <a:off x="6367749" y="3531594"/>
            <a:ext cx="5824250" cy="27803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9" name="Shape 10369"/>
        <p:cNvGrpSpPr/>
        <p:nvPr/>
      </p:nvGrpSpPr>
      <p:grpSpPr>
        <a:xfrm>
          <a:off x="0" y="0"/>
          <a:ext cx="0" cy="0"/>
          <a:chOff x="0" y="0"/>
          <a:chExt cx="0" cy="0"/>
        </a:xfrm>
      </p:grpSpPr>
      <p:sp>
        <p:nvSpPr>
          <p:cNvPr id="10370" name="Google Shape;10370;p17"/>
          <p:cNvSpPr txBox="1"/>
          <p:nvPr>
            <p:ph idx="1" type="body"/>
          </p:nvPr>
        </p:nvSpPr>
        <p:spPr>
          <a:xfrm>
            <a:off x="838200" y="1213859"/>
            <a:ext cx="5628600" cy="364380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rgbClr val="E00D50"/>
              </a:buClr>
              <a:buSzPts val="2400"/>
              <a:buChar char="•"/>
            </a:pPr>
            <a:r>
              <a:rPr b="1" i="0" lang="en-IN" sz="2400">
                <a:solidFill>
                  <a:srgbClr val="E00D50"/>
                </a:solidFill>
                <a:latin typeface="Times New Roman"/>
                <a:ea typeface="Times New Roman"/>
                <a:cs typeface="Times New Roman"/>
                <a:sym typeface="Times New Roman"/>
              </a:rPr>
              <a:t>3. Parent</a:t>
            </a:r>
            <a:endParaRPr b="0" i="0" sz="2400">
              <a:solidFill>
                <a:srgbClr val="333333"/>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10371" name="Google Shape;10371;p17"/>
          <p:cNvSpPr/>
          <p:nvPr/>
        </p:nvSpPr>
        <p:spPr>
          <a:xfrm>
            <a:off x="1546367" y="319049"/>
            <a:ext cx="8324100" cy="8298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600">
                <a:solidFill>
                  <a:schemeClr val="lt1"/>
                </a:solidFill>
                <a:latin typeface="Times New Roman"/>
                <a:ea typeface="Times New Roman"/>
                <a:cs typeface="Times New Roman"/>
                <a:sym typeface="Times New Roman"/>
              </a:rPr>
              <a:t>Tree - Terminology</a:t>
            </a:r>
            <a:endParaRPr/>
          </a:p>
        </p:txBody>
      </p:sp>
      <p:sp>
        <p:nvSpPr>
          <p:cNvPr id="10372" name="Google Shape;10372;p17"/>
          <p:cNvSpPr txBox="1"/>
          <p:nvPr/>
        </p:nvSpPr>
        <p:spPr>
          <a:xfrm>
            <a:off x="6237037" y="1268255"/>
            <a:ext cx="5824200" cy="461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IN" sz="2400">
                <a:solidFill>
                  <a:srgbClr val="E00D50"/>
                </a:solidFill>
                <a:latin typeface="Times New Roman"/>
                <a:ea typeface="Times New Roman"/>
                <a:cs typeface="Times New Roman"/>
                <a:sym typeface="Times New Roman"/>
              </a:rPr>
              <a:t>4. Child</a:t>
            </a:r>
            <a:endParaRPr/>
          </a:p>
        </p:txBody>
      </p:sp>
      <p:pic>
        <p:nvPicPr>
          <p:cNvPr id="10373" name="Google Shape;10373;p17"/>
          <p:cNvPicPr preferRelativeResize="0"/>
          <p:nvPr/>
        </p:nvPicPr>
        <p:blipFill rotWithShape="1">
          <a:blip r:embed="rId3">
            <a:alphaModFix/>
          </a:blip>
          <a:srcRect b="0" l="0" r="0" t="0"/>
          <a:stretch/>
        </p:blipFill>
        <p:spPr>
          <a:xfrm>
            <a:off x="629568" y="1485670"/>
            <a:ext cx="5466431" cy="2677583"/>
          </a:xfrm>
          <a:prstGeom prst="rect">
            <a:avLst/>
          </a:prstGeom>
          <a:noFill/>
          <a:ln>
            <a:noFill/>
          </a:ln>
        </p:spPr>
      </p:pic>
      <p:pic>
        <p:nvPicPr>
          <p:cNvPr id="10374" name="Google Shape;10374;p17"/>
          <p:cNvPicPr preferRelativeResize="0"/>
          <p:nvPr/>
        </p:nvPicPr>
        <p:blipFill rotWithShape="1">
          <a:blip r:embed="rId4">
            <a:alphaModFix/>
          </a:blip>
          <a:srcRect b="0" l="0" r="0" t="0"/>
          <a:stretch/>
        </p:blipFill>
        <p:spPr>
          <a:xfrm>
            <a:off x="6237037" y="1668365"/>
            <a:ext cx="5562828" cy="2462822"/>
          </a:xfrm>
          <a:prstGeom prst="rect">
            <a:avLst/>
          </a:prstGeom>
          <a:noFill/>
          <a:ln>
            <a:noFill/>
          </a:ln>
        </p:spPr>
      </p:pic>
      <p:sp>
        <p:nvSpPr>
          <p:cNvPr id="10375" name="Google Shape;10375;p17"/>
          <p:cNvSpPr txBox="1"/>
          <p:nvPr/>
        </p:nvSpPr>
        <p:spPr>
          <a:xfrm>
            <a:off x="838200" y="3922171"/>
            <a:ext cx="6097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rgbClr val="FF0000"/>
                </a:solidFill>
                <a:latin typeface="Times New Roman"/>
                <a:ea typeface="Times New Roman"/>
                <a:cs typeface="Times New Roman"/>
                <a:sym typeface="Times New Roman"/>
              </a:rPr>
              <a:t>5. Siblings</a:t>
            </a:r>
            <a:endParaRPr/>
          </a:p>
        </p:txBody>
      </p:sp>
      <p:pic>
        <p:nvPicPr>
          <p:cNvPr id="10376" name="Google Shape;10376;p17"/>
          <p:cNvPicPr preferRelativeResize="0"/>
          <p:nvPr/>
        </p:nvPicPr>
        <p:blipFill rotWithShape="1">
          <a:blip r:embed="rId5">
            <a:alphaModFix/>
          </a:blip>
          <a:srcRect b="0" l="0" r="0" t="0"/>
          <a:stretch/>
        </p:blipFill>
        <p:spPr>
          <a:xfrm>
            <a:off x="536842" y="4477806"/>
            <a:ext cx="5324132" cy="2462822"/>
          </a:xfrm>
          <a:prstGeom prst="rect">
            <a:avLst/>
          </a:prstGeom>
          <a:noFill/>
          <a:ln>
            <a:noFill/>
          </a:ln>
        </p:spPr>
      </p:pic>
      <p:sp>
        <p:nvSpPr>
          <p:cNvPr id="10377" name="Google Shape;10377;p17"/>
          <p:cNvSpPr txBox="1"/>
          <p:nvPr/>
        </p:nvSpPr>
        <p:spPr>
          <a:xfrm>
            <a:off x="6319033" y="4091514"/>
            <a:ext cx="6097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rgbClr val="FF0000"/>
                </a:solidFill>
                <a:latin typeface="Times New Roman"/>
                <a:ea typeface="Times New Roman"/>
                <a:cs typeface="Times New Roman"/>
                <a:sym typeface="Times New Roman"/>
              </a:rPr>
              <a:t>6. Leaf</a:t>
            </a:r>
            <a:endParaRPr/>
          </a:p>
        </p:txBody>
      </p:sp>
      <p:pic>
        <p:nvPicPr>
          <p:cNvPr id="10378" name="Google Shape;10378;p17"/>
          <p:cNvPicPr preferRelativeResize="0"/>
          <p:nvPr/>
        </p:nvPicPr>
        <p:blipFill rotWithShape="1">
          <a:blip r:embed="rId6">
            <a:alphaModFix/>
          </a:blip>
          <a:srcRect b="0" l="0" r="0" t="0"/>
          <a:stretch/>
        </p:blipFill>
        <p:spPr>
          <a:xfrm>
            <a:off x="5937920" y="4160995"/>
            <a:ext cx="6097837" cy="2857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2" name="Shape 10382"/>
        <p:cNvGrpSpPr/>
        <p:nvPr/>
      </p:nvGrpSpPr>
      <p:grpSpPr>
        <a:xfrm>
          <a:off x="0" y="0"/>
          <a:ext cx="0" cy="0"/>
          <a:chOff x="0" y="0"/>
          <a:chExt cx="0" cy="0"/>
        </a:xfrm>
      </p:grpSpPr>
      <p:sp>
        <p:nvSpPr>
          <p:cNvPr id="10383" name="Google Shape;10383;p18"/>
          <p:cNvSpPr txBox="1"/>
          <p:nvPr>
            <p:ph idx="1" type="body"/>
          </p:nvPr>
        </p:nvSpPr>
        <p:spPr>
          <a:xfrm>
            <a:off x="838200" y="1277957"/>
            <a:ext cx="10515600" cy="4899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E00D50"/>
              </a:buClr>
              <a:buSzPts val="2800"/>
              <a:buNone/>
            </a:pPr>
            <a:r>
              <a:rPr b="1" i="0" lang="en-IN">
                <a:solidFill>
                  <a:srgbClr val="E00D50"/>
                </a:solidFill>
                <a:latin typeface="Open Sans"/>
                <a:ea typeface="Open Sans"/>
                <a:cs typeface="Open Sans"/>
                <a:sym typeface="Open Sans"/>
              </a:rPr>
              <a:t>7. Degree</a:t>
            </a:r>
            <a:endParaRPr/>
          </a:p>
          <a:p>
            <a:pPr indent="0" lvl="0" marL="0" rtl="0" algn="l">
              <a:lnSpc>
                <a:spcPct val="90000"/>
              </a:lnSpc>
              <a:spcBef>
                <a:spcPts val="1000"/>
              </a:spcBef>
              <a:spcAft>
                <a:spcPts val="0"/>
              </a:spcAft>
              <a:buClr>
                <a:schemeClr val="dk1"/>
              </a:buClr>
              <a:buSzPts val="2800"/>
              <a:buNone/>
            </a:pPr>
            <a:r>
              <a:t/>
            </a:r>
            <a:endParaRPr/>
          </a:p>
        </p:txBody>
      </p:sp>
      <p:sp>
        <p:nvSpPr>
          <p:cNvPr id="10384" name="Google Shape;10384;p18"/>
          <p:cNvSpPr/>
          <p:nvPr/>
        </p:nvSpPr>
        <p:spPr>
          <a:xfrm>
            <a:off x="1546367" y="319049"/>
            <a:ext cx="9316200" cy="8298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600">
                <a:solidFill>
                  <a:schemeClr val="lt1"/>
                </a:solidFill>
                <a:latin typeface="Comfortaa"/>
                <a:ea typeface="Comfortaa"/>
                <a:cs typeface="Comfortaa"/>
                <a:sym typeface="Comfortaa"/>
              </a:rPr>
              <a:t>Tree - Terminology</a:t>
            </a:r>
            <a:endParaRPr/>
          </a:p>
        </p:txBody>
      </p:sp>
      <p:pic>
        <p:nvPicPr>
          <p:cNvPr id="10385" name="Google Shape;10385;p18"/>
          <p:cNvPicPr preferRelativeResize="0"/>
          <p:nvPr/>
        </p:nvPicPr>
        <p:blipFill rotWithShape="1">
          <a:blip r:embed="rId3">
            <a:alphaModFix/>
          </a:blip>
          <a:srcRect b="0" l="0" r="0" t="0"/>
          <a:stretch/>
        </p:blipFill>
        <p:spPr>
          <a:xfrm>
            <a:off x="217354" y="1658727"/>
            <a:ext cx="5764805" cy="2252261"/>
          </a:xfrm>
          <a:prstGeom prst="rect">
            <a:avLst/>
          </a:prstGeom>
          <a:noFill/>
          <a:ln>
            <a:noFill/>
          </a:ln>
        </p:spPr>
      </p:pic>
      <p:sp>
        <p:nvSpPr>
          <p:cNvPr id="10386" name="Google Shape;10386;p18"/>
          <p:cNvSpPr txBox="1"/>
          <p:nvPr/>
        </p:nvSpPr>
        <p:spPr>
          <a:xfrm>
            <a:off x="6094164" y="1277957"/>
            <a:ext cx="6097800" cy="461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IN" sz="2400">
                <a:solidFill>
                  <a:srgbClr val="E00D50"/>
                </a:solidFill>
                <a:latin typeface="Open Sans"/>
                <a:ea typeface="Open Sans"/>
                <a:cs typeface="Open Sans"/>
                <a:sym typeface="Open Sans"/>
              </a:rPr>
              <a:t>8. Level</a:t>
            </a:r>
            <a:endParaRPr/>
          </a:p>
        </p:txBody>
      </p:sp>
      <p:pic>
        <p:nvPicPr>
          <p:cNvPr id="10387" name="Google Shape;10387;p18"/>
          <p:cNvPicPr preferRelativeResize="0"/>
          <p:nvPr/>
        </p:nvPicPr>
        <p:blipFill rotWithShape="1">
          <a:blip r:embed="rId4">
            <a:alphaModFix/>
          </a:blip>
          <a:srcRect b="0" l="0" r="0" t="0"/>
          <a:stretch/>
        </p:blipFill>
        <p:spPr>
          <a:xfrm>
            <a:off x="6209843" y="1670225"/>
            <a:ext cx="5870153" cy="2369949"/>
          </a:xfrm>
          <a:prstGeom prst="rect">
            <a:avLst/>
          </a:prstGeom>
          <a:noFill/>
          <a:ln>
            <a:noFill/>
          </a:ln>
        </p:spPr>
      </p:pic>
      <p:sp>
        <p:nvSpPr>
          <p:cNvPr id="10388" name="Google Shape;10388;p18"/>
          <p:cNvSpPr txBox="1"/>
          <p:nvPr/>
        </p:nvSpPr>
        <p:spPr>
          <a:xfrm>
            <a:off x="320868" y="3871469"/>
            <a:ext cx="6406200" cy="461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IN" sz="2400">
                <a:solidFill>
                  <a:srgbClr val="E00D50"/>
                </a:solidFill>
                <a:latin typeface="Open Sans"/>
                <a:ea typeface="Open Sans"/>
                <a:cs typeface="Open Sans"/>
                <a:sym typeface="Open Sans"/>
              </a:rPr>
              <a:t>9. </a:t>
            </a:r>
            <a:r>
              <a:rPr b="1" i="0" lang="en-IN" sz="2400">
                <a:solidFill>
                  <a:srgbClr val="E00D50"/>
                </a:solidFill>
                <a:latin typeface="Open Sans"/>
                <a:ea typeface="Open Sans"/>
                <a:cs typeface="Open Sans"/>
                <a:sym typeface="Open Sans"/>
              </a:rPr>
              <a:t>Height</a:t>
            </a:r>
            <a:endParaRPr/>
          </a:p>
        </p:txBody>
      </p:sp>
      <p:pic>
        <p:nvPicPr>
          <p:cNvPr id="10389" name="Google Shape;10389;p18"/>
          <p:cNvPicPr preferRelativeResize="0"/>
          <p:nvPr/>
        </p:nvPicPr>
        <p:blipFill rotWithShape="1">
          <a:blip r:embed="rId5">
            <a:alphaModFix/>
          </a:blip>
          <a:srcRect b="0" l="0" r="0" t="0"/>
          <a:stretch/>
        </p:blipFill>
        <p:spPr>
          <a:xfrm>
            <a:off x="438844" y="4303255"/>
            <a:ext cx="5870153" cy="2626677"/>
          </a:xfrm>
          <a:prstGeom prst="rect">
            <a:avLst/>
          </a:prstGeom>
          <a:noFill/>
          <a:ln>
            <a:noFill/>
          </a:ln>
        </p:spPr>
      </p:pic>
      <p:sp>
        <p:nvSpPr>
          <p:cNvPr id="10390" name="Google Shape;10390;p18"/>
          <p:cNvSpPr txBox="1"/>
          <p:nvPr/>
        </p:nvSpPr>
        <p:spPr>
          <a:xfrm>
            <a:off x="6089573" y="4063109"/>
            <a:ext cx="6097800" cy="461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IN" sz="2400">
                <a:solidFill>
                  <a:srgbClr val="E00D50"/>
                </a:solidFill>
                <a:latin typeface="Open Sans"/>
                <a:ea typeface="Open Sans"/>
                <a:cs typeface="Open Sans"/>
                <a:sym typeface="Open Sans"/>
              </a:rPr>
              <a:t>10. Sub Tree</a:t>
            </a:r>
            <a:endParaRPr/>
          </a:p>
        </p:txBody>
      </p:sp>
      <p:pic>
        <p:nvPicPr>
          <p:cNvPr id="10391" name="Google Shape;10391;p18"/>
          <p:cNvPicPr preferRelativeResize="0"/>
          <p:nvPr/>
        </p:nvPicPr>
        <p:blipFill rotWithShape="1">
          <a:blip r:embed="rId6">
            <a:alphaModFix/>
          </a:blip>
          <a:srcRect b="0" l="0" r="0" t="0"/>
          <a:stretch/>
        </p:blipFill>
        <p:spPr>
          <a:xfrm>
            <a:off x="5970683" y="3952364"/>
            <a:ext cx="6667500" cy="2857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5" name="Shape 10395"/>
        <p:cNvGrpSpPr/>
        <p:nvPr/>
      </p:nvGrpSpPr>
      <p:grpSpPr>
        <a:xfrm>
          <a:off x="0" y="0"/>
          <a:ext cx="0" cy="0"/>
          <a:chOff x="0" y="0"/>
          <a:chExt cx="0" cy="0"/>
        </a:xfrm>
      </p:grpSpPr>
      <p:sp>
        <p:nvSpPr>
          <p:cNvPr id="10396" name="Google Shape;10396;p19"/>
          <p:cNvSpPr/>
          <p:nvPr/>
        </p:nvSpPr>
        <p:spPr>
          <a:xfrm>
            <a:off x="1828801" y="300038"/>
            <a:ext cx="7469700" cy="6642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2800">
                <a:solidFill>
                  <a:schemeClr val="lt1"/>
                </a:solidFill>
                <a:latin typeface="Times New Roman"/>
                <a:ea typeface="Times New Roman"/>
                <a:cs typeface="Times New Roman"/>
                <a:sym typeface="Times New Roman"/>
              </a:rPr>
              <a:t>Example of Binary Tree with  nodes</a:t>
            </a:r>
            <a:endParaRPr sz="2800">
              <a:solidFill>
                <a:schemeClr val="lt1"/>
              </a:solidFill>
              <a:latin typeface="Times New Roman"/>
              <a:ea typeface="Times New Roman"/>
              <a:cs typeface="Times New Roman"/>
              <a:sym typeface="Times New Roman"/>
            </a:endParaRPr>
          </a:p>
        </p:txBody>
      </p:sp>
      <p:sp>
        <p:nvSpPr>
          <p:cNvPr id="10397" name="Google Shape;10397;p19"/>
          <p:cNvSpPr/>
          <p:nvPr/>
        </p:nvSpPr>
        <p:spPr>
          <a:xfrm>
            <a:off x="1751682" y="4353824"/>
            <a:ext cx="8053200" cy="1446600"/>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t/>
            </a:r>
            <a:endParaRPr b="1" i="0" sz="3200" u="none" cap="none" strike="noStrike">
              <a:solidFill>
                <a:srgbClr val="0070C0"/>
              </a:solidFill>
              <a:latin typeface="Times New Roman"/>
              <a:ea typeface="Times New Roman"/>
              <a:cs typeface="Times New Roman"/>
              <a:sym typeface="Times New Roman"/>
            </a:endParaRPr>
          </a:p>
          <a:p>
            <a:pPr indent="0" lvl="1" marL="457200" marR="0" rtl="0" algn="l">
              <a:spcBef>
                <a:spcPts val="0"/>
              </a:spcBef>
              <a:spcAft>
                <a:spcPts val="0"/>
              </a:spcAft>
              <a:buNone/>
            </a:pPr>
            <a:r>
              <a:rPr b="1" i="0" lang="en-IN" sz="3200" u="none" cap="none" strike="noStrike">
                <a:solidFill>
                  <a:schemeClr val="dk1"/>
                </a:solidFill>
                <a:latin typeface="Times New Roman"/>
                <a:ea typeface="Times New Roman"/>
                <a:cs typeface="Times New Roman"/>
                <a:sym typeface="Times New Roman"/>
              </a:rPr>
              <a:t>1. </a:t>
            </a:r>
            <a:r>
              <a:rPr b="1" i="0" lang="en-IN" sz="2400" u="none" cap="none" strike="noStrike">
                <a:solidFill>
                  <a:schemeClr val="dk1"/>
                </a:solidFill>
                <a:latin typeface="Times New Roman"/>
                <a:ea typeface="Times New Roman"/>
                <a:cs typeface="Times New Roman"/>
                <a:sym typeface="Times New Roman"/>
              </a:rPr>
              <a:t>Array Representation of Binary Tree</a:t>
            </a:r>
            <a:endParaRPr/>
          </a:p>
          <a:p>
            <a:pPr indent="0" lvl="0" marL="0" marR="0" rtl="0" algn="just">
              <a:spcBef>
                <a:spcPts val="0"/>
              </a:spcBef>
              <a:spcAft>
                <a:spcPts val="0"/>
              </a:spcAft>
              <a:buNone/>
            </a:pPr>
            <a:r>
              <a:rPr b="1" i="0" lang="en-IN" sz="2400">
                <a:solidFill>
                  <a:schemeClr val="dk1"/>
                </a:solidFill>
                <a:latin typeface="Times New Roman"/>
                <a:ea typeface="Times New Roman"/>
                <a:cs typeface="Times New Roman"/>
                <a:sym typeface="Times New Roman"/>
              </a:rPr>
              <a:t>      2. Linked List Representation of  Binary Tree</a:t>
            </a:r>
            <a:endParaRPr/>
          </a:p>
        </p:txBody>
      </p:sp>
      <p:sp>
        <p:nvSpPr>
          <p:cNvPr id="10398" name="Google Shape;10398;p19"/>
          <p:cNvSpPr/>
          <p:nvPr/>
        </p:nvSpPr>
        <p:spPr>
          <a:xfrm>
            <a:off x="1411158" y="4182550"/>
            <a:ext cx="8316600" cy="6000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2800">
                <a:solidFill>
                  <a:schemeClr val="lt1"/>
                </a:solidFill>
                <a:latin typeface="Times New Roman"/>
                <a:ea typeface="Times New Roman"/>
                <a:cs typeface="Times New Roman"/>
                <a:sym typeface="Times New Roman"/>
              </a:rPr>
              <a:t>Types of </a:t>
            </a:r>
            <a:r>
              <a:rPr b="1" lang="en-IN" sz="2400">
                <a:solidFill>
                  <a:schemeClr val="lt1"/>
                </a:solidFill>
                <a:latin typeface="Times New Roman"/>
                <a:ea typeface="Times New Roman"/>
                <a:cs typeface="Times New Roman"/>
                <a:sym typeface="Times New Roman"/>
              </a:rPr>
              <a:t>Binary Tree Representations</a:t>
            </a:r>
            <a:endParaRPr b="1" sz="2400">
              <a:solidFill>
                <a:schemeClr val="lt1"/>
              </a:solidFill>
              <a:effectLst>
                <a:outerShdw blurRad="38100" rotWithShape="0" algn="tl" dir="2700000" dist="19050">
                  <a:srgbClr val="000000">
                    <a:alpha val="40000"/>
                  </a:srgbClr>
                </a:outerShdw>
              </a:effectLst>
              <a:latin typeface="Times New Roman"/>
              <a:ea typeface="Times New Roman"/>
              <a:cs typeface="Times New Roman"/>
              <a:sym typeface="Times New Roman"/>
            </a:endParaRPr>
          </a:p>
        </p:txBody>
      </p:sp>
      <p:pic>
        <p:nvPicPr>
          <p:cNvPr descr="binary tree" id="10399" name="Google Shape;10399;p19"/>
          <p:cNvPicPr preferRelativeResize="0"/>
          <p:nvPr>
            <p:ph idx="1" type="body"/>
          </p:nvPr>
        </p:nvPicPr>
        <p:blipFill rotWithShape="1">
          <a:blip r:embed="rId3">
            <a:alphaModFix/>
          </a:blip>
          <a:srcRect b="0" l="0" r="0" t="0"/>
          <a:stretch/>
        </p:blipFill>
        <p:spPr>
          <a:xfrm>
            <a:off x="2262782" y="854482"/>
            <a:ext cx="5074500" cy="3299400"/>
          </a:xfrm>
          <a:prstGeom prst="rect">
            <a:avLst/>
          </a:prstGeom>
          <a:noFill/>
          <a:ln>
            <a:noFill/>
          </a:ln>
        </p:spPr>
      </p:pic>
    </p:spTree>
  </p:cSld>
  <p:clrMapOvr>
    <a:masterClrMapping/>
  </p:clrMapOvr>
  <p:transition spd="slow" p14:dur="1600">
    <p:blinds dir="ver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3" name="Shape 10403"/>
        <p:cNvGrpSpPr/>
        <p:nvPr/>
      </p:nvGrpSpPr>
      <p:grpSpPr>
        <a:xfrm>
          <a:off x="0" y="0"/>
          <a:ext cx="0" cy="0"/>
          <a:chOff x="0" y="0"/>
          <a:chExt cx="0" cy="0"/>
        </a:xfrm>
      </p:grpSpPr>
      <p:sp>
        <p:nvSpPr>
          <p:cNvPr id="10404" name="Google Shape;10404;p20"/>
          <p:cNvSpPr/>
          <p:nvPr/>
        </p:nvSpPr>
        <p:spPr>
          <a:xfrm>
            <a:off x="3121964" y="70605"/>
            <a:ext cx="6201300" cy="4287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2800">
                <a:solidFill>
                  <a:schemeClr val="lt1"/>
                </a:solidFill>
                <a:latin typeface="Times New Roman"/>
                <a:ea typeface="Times New Roman"/>
                <a:cs typeface="Times New Roman"/>
                <a:sym typeface="Times New Roman"/>
              </a:rPr>
              <a:t>             Types of Binary Tree               </a:t>
            </a:r>
            <a:endParaRPr/>
          </a:p>
        </p:txBody>
      </p:sp>
      <p:sp>
        <p:nvSpPr>
          <p:cNvPr id="10405" name="Google Shape;10405;p20"/>
          <p:cNvSpPr txBox="1"/>
          <p:nvPr/>
        </p:nvSpPr>
        <p:spPr>
          <a:xfrm>
            <a:off x="289253" y="1086772"/>
            <a:ext cx="11866800" cy="587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dk1"/>
                </a:solidFill>
                <a:latin typeface="Times New Roman"/>
                <a:ea typeface="Times New Roman"/>
                <a:cs typeface="Times New Roman"/>
                <a:sym typeface="Times New Roman"/>
              </a:rPr>
              <a:t> </a:t>
            </a:r>
            <a:r>
              <a:rPr b="1" i="0" lang="en-IN" sz="2800">
                <a:solidFill>
                  <a:schemeClr val="dk1"/>
                </a:solidFill>
                <a:latin typeface="Times New Roman"/>
                <a:ea typeface="Times New Roman"/>
                <a:cs typeface="Times New Roman"/>
                <a:sym typeface="Times New Roman"/>
              </a:rPr>
              <a:t>1. Array Representation of Binary Tree</a:t>
            </a:r>
            <a:endParaRPr/>
          </a:p>
          <a:p>
            <a:pPr indent="0" lvl="0" marL="0" marR="0" rtl="0" algn="l">
              <a:spcBef>
                <a:spcPts val="0"/>
              </a:spcBef>
              <a:spcAft>
                <a:spcPts val="0"/>
              </a:spcAft>
              <a:buNone/>
            </a:pPr>
            <a:r>
              <a:rPr b="0" i="0" lang="en-IN" sz="2000">
                <a:solidFill>
                  <a:srgbClr val="333333"/>
                </a:solidFill>
                <a:latin typeface="Times New Roman"/>
                <a:ea typeface="Times New Roman"/>
                <a:cs typeface="Times New Roman"/>
                <a:sym typeface="Times New Roman"/>
              </a:rPr>
              <a:t>In array representation of a binary tree, we use one-dimensional array (1-D Array) to represent a binary tree.</a:t>
            </a:r>
            <a:br>
              <a:rPr lang="en-IN" sz="2000">
                <a:solidFill>
                  <a:schemeClr val="dk1"/>
                </a:solidFill>
                <a:latin typeface="Times New Roman"/>
                <a:ea typeface="Times New Roman"/>
                <a:cs typeface="Times New Roman"/>
                <a:sym typeface="Times New Roman"/>
              </a:rPr>
            </a:br>
            <a:r>
              <a:rPr b="0" i="0" lang="en-IN" sz="2000">
                <a:solidFill>
                  <a:srgbClr val="333333"/>
                </a:solidFill>
                <a:latin typeface="Times New Roman"/>
                <a:ea typeface="Times New Roman"/>
                <a:cs typeface="Times New Roman"/>
                <a:sym typeface="Times New Roman"/>
              </a:rPr>
              <a:t>Consider the above example of a binary tree and it is represented as follows...</a:t>
            </a:r>
            <a:endParaRPr b="1" i="0"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IN" sz="2800">
                <a:solidFill>
                  <a:schemeClr val="dk1"/>
                </a:solidFill>
                <a:latin typeface="Times New Roman"/>
                <a:ea typeface="Times New Roman"/>
                <a:cs typeface="Times New Roman"/>
                <a:sym typeface="Times New Roman"/>
              </a:rPr>
              <a:t>Node occupies a[i]</a:t>
            </a:r>
            <a:endParaRPr/>
          </a:p>
          <a:p>
            <a:pPr indent="0" lvl="0" marL="0" marR="0" rtl="0" algn="l">
              <a:spcBef>
                <a:spcPts val="0"/>
              </a:spcBef>
              <a:spcAft>
                <a:spcPts val="0"/>
              </a:spcAft>
              <a:buNone/>
            </a:pPr>
            <a:r>
              <a:rPr b="1" lang="en-IN" sz="2800">
                <a:solidFill>
                  <a:schemeClr val="dk1"/>
                </a:solidFill>
                <a:latin typeface="Times New Roman"/>
                <a:ea typeface="Times New Roman"/>
                <a:cs typeface="Times New Roman"/>
                <a:sym typeface="Times New Roman"/>
              </a:rPr>
              <a:t>Left child-&gt;[2*i+1]</a:t>
            </a:r>
            <a:endParaRPr/>
          </a:p>
          <a:p>
            <a:pPr indent="0" lvl="0" marL="0" marR="0" rtl="0" algn="l">
              <a:spcBef>
                <a:spcPts val="0"/>
              </a:spcBef>
              <a:spcAft>
                <a:spcPts val="0"/>
              </a:spcAft>
              <a:buNone/>
            </a:pPr>
            <a:r>
              <a:rPr b="1" lang="en-IN" sz="2800">
                <a:solidFill>
                  <a:schemeClr val="dk1"/>
                </a:solidFill>
                <a:latin typeface="Times New Roman"/>
                <a:ea typeface="Times New Roman"/>
                <a:cs typeface="Times New Roman"/>
                <a:sym typeface="Times New Roman"/>
              </a:rPr>
              <a:t>Right child-&gt;[2*i+2]</a:t>
            </a:r>
            <a:endParaRPr/>
          </a:p>
          <a:p>
            <a:pPr indent="0" lvl="0" marL="0" marR="0" rtl="0" algn="l">
              <a:spcBef>
                <a:spcPts val="0"/>
              </a:spcBef>
              <a:spcAft>
                <a:spcPts val="0"/>
              </a:spcAft>
              <a:buNone/>
            </a:pPr>
            <a:r>
              <a:rPr b="1" lang="en-IN" sz="2800">
                <a:solidFill>
                  <a:schemeClr val="dk1"/>
                </a:solidFill>
                <a:latin typeface="Times New Roman"/>
                <a:ea typeface="Times New Roman"/>
                <a:cs typeface="Times New Roman"/>
                <a:sym typeface="Times New Roman"/>
              </a:rPr>
              <a:t>Parent child-&gt;[(i-1)/2] ex:55,44,66,33,10,20</a:t>
            </a:r>
            <a:endParaRPr/>
          </a:p>
          <a:p>
            <a:pPr indent="0" lvl="0" marL="0" marR="0" rtl="0" algn="l">
              <a:spcBef>
                <a:spcPts val="0"/>
              </a:spcBef>
              <a:spcAft>
                <a:spcPts val="0"/>
              </a:spcAft>
              <a:buNone/>
            </a:pPr>
            <a:r>
              <a:t/>
            </a:r>
            <a:endParaRPr b="1"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0" lang="en-IN" sz="2800">
                <a:solidFill>
                  <a:schemeClr val="dk1"/>
                </a:solidFill>
                <a:latin typeface="Times New Roman"/>
                <a:ea typeface="Times New Roman"/>
                <a:cs typeface="Times New Roman"/>
                <a:sym typeface="Times New Roman"/>
              </a:rPr>
              <a:t>2. </a:t>
            </a:r>
            <a:r>
              <a:rPr b="1" i="0" lang="en-IN" sz="2800">
                <a:solidFill>
                  <a:schemeClr val="dk1"/>
                </a:solidFill>
                <a:highlight>
                  <a:srgbClr val="FFFF00"/>
                </a:highlight>
                <a:latin typeface="Times New Roman"/>
                <a:ea typeface="Times New Roman"/>
                <a:cs typeface="Times New Roman"/>
                <a:sym typeface="Times New Roman"/>
              </a:rPr>
              <a:t>Linked List Representation of Binary Tree</a:t>
            </a:r>
            <a:endParaRPr/>
          </a:p>
          <a:p>
            <a:pPr indent="0" lvl="0" marL="0" marR="0" rtl="0" algn="l">
              <a:spcBef>
                <a:spcPts val="0"/>
              </a:spcBef>
              <a:spcAft>
                <a:spcPts val="0"/>
              </a:spcAft>
              <a:buNone/>
            </a:pPr>
            <a:r>
              <a:t/>
            </a:r>
            <a:endParaRPr b="1" i="0"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IN" sz="2800">
                <a:solidFill>
                  <a:schemeClr val="dk1"/>
                </a:solidFill>
                <a:latin typeface="Times New Roman"/>
                <a:ea typeface="Times New Roman"/>
                <a:cs typeface="Times New Roman"/>
                <a:sym typeface="Times New Roman"/>
              </a:rPr>
              <a:t>			</a:t>
            </a:r>
            <a:r>
              <a:rPr b="1" lang="en-IN"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pic>
        <p:nvPicPr>
          <p:cNvPr descr="binary tree array representation" id="10406" name="Google Shape;10406;p20"/>
          <p:cNvPicPr preferRelativeResize="0"/>
          <p:nvPr/>
        </p:nvPicPr>
        <p:blipFill rotWithShape="1">
          <a:blip r:embed="rId3">
            <a:alphaModFix/>
          </a:blip>
          <a:srcRect b="0" l="0" r="0" t="0"/>
          <a:stretch/>
        </p:blipFill>
        <p:spPr>
          <a:xfrm>
            <a:off x="381000" y="2181340"/>
            <a:ext cx="11430000" cy="1520327"/>
          </a:xfrm>
          <a:prstGeom prst="rect">
            <a:avLst/>
          </a:prstGeom>
          <a:noFill/>
          <a:ln>
            <a:noFill/>
          </a:ln>
        </p:spPr>
      </p:pic>
      <p:pic>
        <p:nvPicPr>
          <p:cNvPr descr="Binary Tree Linked List Representation" id="10407" name="Google Shape;10407;p20"/>
          <p:cNvPicPr preferRelativeResize="0"/>
          <p:nvPr/>
        </p:nvPicPr>
        <p:blipFill rotWithShape="1">
          <a:blip r:embed="rId4">
            <a:alphaModFix/>
          </a:blip>
          <a:srcRect b="0" l="0" r="0" t="0"/>
          <a:stretch/>
        </p:blipFill>
        <p:spPr>
          <a:xfrm>
            <a:off x="6775297" y="3205537"/>
            <a:ext cx="5354196" cy="3291780"/>
          </a:xfrm>
          <a:prstGeom prst="rect">
            <a:avLst/>
          </a:prstGeom>
          <a:noFill/>
          <a:ln>
            <a:noFill/>
          </a:ln>
        </p:spPr>
      </p:pic>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4"/>
                                        </p:tgtEl>
                                        <p:attrNameLst>
                                          <p:attrName>style.visibility</p:attrName>
                                        </p:attrNameLst>
                                      </p:cBhvr>
                                      <p:to>
                                        <p:strVal val="visible"/>
                                      </p:to>
                                    </p:set>
                                    <p:animEffect filter="fade" transition="in">
                                      <p:cBhvr>
                                        <p:cTn dur="500"/>
                                        <p:tgtEl>
                                          <p:spTgt spid="10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2" name="Shape 10412"/>
        <p:cNvGrpSpPr/>
        <p:nvPr/>
      </p:nvGrpSpPr>
      <p:grpSpPr>
        <a:xfrm>
          <a:off x="0" y="0"/>
          <a:ext cx="0" cy="0"/>
          <a:chOff x="0" y="0"/>
          <a:chExt cx="0" cy="0"/>
        </a:xfrm>
      </p:grpSpPr>
      <p:sp>
        <p:nvSpPr>
          <p:cNvPr id="10413" name="Google Shape;10413;p21"/>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0414" name="Google Shape;10414;p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0415" name="Google Shape;10415;p21"/>
          <p:cNvPicPr preferRelativeResize="0"/>
          <p:nvPr/>
        </p:nvPicPr>
        <p:blipFill rotWithShape="1">
          <a:blip r:embed="rId3">
            <a:alphaModFix/>
          </a:blip>
          <a:srcRect b="0" l="0" r="0" t="0"/>
          <a:stretch/>
        </p:blipFill>
        <p:spPr>
          <a:xfrm>
            <a:off x="383039" y="1376939"/>
            <a:ext cx="10795243" cy="458959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9" name="Shape 10419"/>
        <p:cNvGrpSpPr/>
        <p:nvPr/>
      </p:nvGrpSpPr>
      <p:grpSpPr>
        <a:xfrm>
          <a:off x="0" y="0"/>
          <a:ext cx="0" cy="0"/>
          <a:chOff x="0" y="0"/>
          <a:chExt cx="0" cy="0"/>
        </a:xfrm>
      </p:grpSpPr>
      <p:sp>
        <p:nvSpPr>
          <p:cNvPr id="10420" name="Google Shape;10420;p22"/>
          <p:cNvSpPr/>
          <p:nvPr/>
        </p:nvSpPr>
        <p:spPr>
          <a:xfrm>
            <a:off x="1656544" y="245393"/>
            <a:ext cx="9454800" cy="7095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IN" sz="3200">
                <a:solidFill>
                  <a:schemeClr val="lt1"/>
                </a:solidFill>
                <a:latin typeface="Times New Roman"/>
                <a:ea typeface="Times New Roman"/>
                <a:cs typeface="Times New Roman"/>
                <a:sym typeface="Times New Roman"/>
              </a:rPr>
              <a:t>             Types of binary tree traversals.</a:t>
            </a:r>
            <a:r>
              <a:rPr lang="en-IN" sz="4000">
                <a:solidFill>
                  <a:schemeClr val="lt1"/>
                </a:solidFill>
                <a:latin typeface="Times New Roman"/>
                <a:ea typeface="Times New Roman"/>
                <a:cs typeface="Times New Roman"/>
                <a:sym typeface="Times New Roman"/>
              </a:rPr>
              <a:t>  </a:t>
            </a:r>
            <a:r>
              <a:rPr lang="en-IN" sz="4400">
                <a:solidFill>
                  <a:schemeClr val="lt1"/>
                </a:solidFill>
                <a:latin typeface="Times New Roman"/>
                <a:ea typeface="Times New Roman"/>
                <a:cs typeface="Times New Roman"/>
                <a:sym typeface="Times New Roman"/>
              </a:rPr>
              <a:t>   </a:t>
            </a:r>
            <a:r>
              <a:rPr lang="en-IN" sz="3200">
                <a:solidFill>
                  <a:schemeClr val="lt1"/>
                </a:solidFill>
                <a:latin typeface="Times New Roman"/>
                <a:ea typeface="Times New Roman"/>
                <a:cs typeface="Times New Roman"/>
                <a:sym typeface="Times New Roman"/>
              </a:rPr>
              <a:t>                     </a:t>
            </a:r>
            <a:endParaRPr sz="2400">
              <a:solidFill>
                <a:schemeClr val="lt1"/>
              </a:solidFill>
              <a:latin typeface="Times New Roman"/>
              <a:ea typeface="Times New Roman"/>
              <a:cs typeface="Times New Roman"/>
              <a:sym typeface="Times New Roman"/>
            </a:endParaRPr>
          </a:p>
        </p:txBody>
      </p:sp>
      <p:sp>
        <p:nvSpPr>
          <p:cNvPr id="10421" name="Google Shape;10421;p22"/>
          <p:cNvSpPr/>
          <p:nvPr/>
        </p:nvSpPr>
        <p:spPr>
          <a:xfrm>
            <a:off x="356259" y="1320731"/>
            <a:ext cx="11542800" cy="5447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N" sz="2400">
                <a:solidFill>
                  <a:schemeClr val="dk1"/>
                </a:solidFill>
                <a:latin typeface="Times New Roman"/>
                <a:ea typeface="Times New Roman"/>
                <a:cs typeface="Times New Roman"/>
                <a:sym typeface="Times New Roman"/>
              </a:rPr>
              <a:t> </a:t>
            </a:r>
            <a:r>
              <a:rPr b="0" i="0" lang="en-IN" sz="2400">
                <a:solidFill>
                  <a:srgbClr val="333333"/>
                </a:solidFill>
                <a:latin typeface="Times New Roman"/>
                <a:ea typeface="Times New Roman"/>
                <a:cs typeface="Times New Roman"/>
                <a:sym typeface="Times New Roman"/>
              </a:rPr>
              <a:t>There are three types of binary tree traversals.</a:t>
            </a:r>
            <a:endParaRPr/>
          </a:p>
          <a:p>
            <a:pPr indent="-152400" lvl="0" marL="0" marR="0" rtl="0" algn="just">
              <a:spcBef>
                <a:spcPts val="0"/>
              </a:spcBef>
              <a:spcAft>
                <a:spcPts val="0"/>
              </a:spcAft>
              <a:buClr>
                <a:srgbClr val="333333"/>
              </a:buClr>
              <a:buSzPts val="2400"/>
              <a:buFont typeface="Calibri"/>
              <a:buAutoNum type="arabicPeriod"/>
            </a:pPr>
            <a:r>
              <a:rPr b="1" i="0" lang="en-IN" sz="2400">
                <a:solidFill>
                  <a:srgbClr val="333333"/>
                </a:solidFill>
                <a:latin typeface="Times New Roman"/>
                <a:ea typeface="Times New Roman"/>
                <a:cs typeface="Times New Roman"/>
                <a:sym typeface="Times New Roman"/>
              </a:rPr>
              <a:t>In - Order Traversal</a:t>
            </a:r>
            <a:endParaRPr/>
          </a:p>
          <a:p>
            <a:pPr indent="-152400" lvl="0" marL="0" marR="0" rtl="0" algn="just">
              <a:spcBef>
                <a:spcPts val="0"/>
              </a:spcBef>
              <a:spcAft>
                <a:spcPts val="0"/>
              </a:spcAft>
              <a:buClr>
                <a:srgbClr val="333333"/>
              </a:buClr>
              <a:buSzPts val="2400"/>
              <a:buFont typeface="Calibri"/>
              <a:buAutoNum type="arabicPeriod"/>
            </a:pPr>
            <a:r>
              <a:rPr b="1" i="0" lang="en-IN" sz="2400">
                <a:solidFill>
                  <a:srgbClr val="333333"/>
                </a:solidFill>
                <a:latin typeface="Times New Roman"/>
                <a:ea typeface="Times New Roman"/>
                <a:cs typeface="Times New Roman"/>
                <a:sym typeface="Times New Roman"/>
              </a:rPr>
              <a:t>Pre - Order Traversal</a:t>
            </a:r>
            <a:endParaRPr/>
          </a:p>
          <a:p>
            <a:pPr indent="-152400" lvl="0" marL="0" marR="0" rtl="0" algn="just">
              <a:spcBef>
                <a:spcPts val="0"/>
              </a:spcBef>
              <a:spcAft>
                <a:spcPts val="0"/>
              </a:spcAft>
              <a:buClr>
                <a:srgbClr val="333333"/>
              </a:buClr>
              <a:buSzPts val="2400"/>
              <a:buFont typeface="Calibri"/>
              <a:buAutoNum type="arabicPeriod"/>
            </a:pPr>
            <a:r>
              <a:rPr b="1" i="0" lang="en-IN" sz="2400">
                <a:solidFill>
                  <a:srgbClr val="333333"/>
                </a:solidFill>
                <a:latin typeface="Times New Roman"/>
                <a:ea typeface="Times New Roman"/>
                <a:cs typeface="Times New Roman"/>
                <a:sym typeface="Times New Roman"/>
              </a:rPr>
              <a:t>Post - Order Traversal</a:t>
            </a:r>
            <a:endParaRPr/>
          </a:p>
          <a:p>
            <a:pPr indent="0" lvl="0" marL="0" marR="0" rtl="0" algn="just">
              <a:spcBef>
                <a:spcPts val="0"/>
              </a:spcBef>
              <a:spcAft>
                <a:spcPts val="0"/>
              </a:spcAft>
              <a:buNone/>
            </a:pPr>
            <a:r>
              <a:t/>
            </a:r>
            <a:endParaRPr b="1" sz="2400">
              <a:solidFill>
                <a:srgbClr val="333333"/>
              </a:solidFill>
              <a:latin typeface="Times New Roman"/>
              <a:ea typeface="Times New Roman"/>
              <a:cs typeface="Times New Roman"/>
              <a:sym typeface="Times New Roman"/>
            </a:endParaRPr>
          </a:p>
          <a:p>
            <a:pPr indent="0" lvl="0" marL="0" marR="0" rtl="0" algn="just">
              <a:spcBef>
                <a:spcPts val="0"/>
              </a:spcBef>
              <a:spcAft>
                <a:spcPts val="0"/>
              </a:spcAft>
              <a:buNone/>
            </a:pPr>
            <a:r>
              <a:rPr b="1" i="0" lang="en-IN" sz="2400">
                <a:solidFill>
                  <a:schemeClr val="dk1"/>
                </a:solidFill>
                <a:latin typeface="Times New Roman"/>
                <a:ea typeface="Times New Roman"/>
                <a:cs typeface="Times New Roman"/>
                <a:sym typeface="Times New Roman"/>
              </a:rPr>
              <a:t>1.In - Order Traversal ( leftChild - root - rightChild )</a:t>
            </a:r>
            <a:endParaRPr/>
          </a:p>
          <a:p>
            <a:pPr indent="0" lvl="0" marL="0" marR="0" rtl="0" algn="l">
              <a:lnSpc>
                <a:spcPct val="150000"/>
              </a:lnSpc>
              <a:spcBef>
                <a:spcPts val="0"/>
              </a:spcBef>
              <a:spcAft>
                <a:spcPts val="0"/>
              </a:spcAft>
              <a:buNone/>
            </a:pPr>
            <a:r>
              <a:rPr b="0" i="0" lang="en-IN" sz="2400">
                <a:solidFill>
                  <a:srgbClr val="333333"/>
                </a:solidFill>
                <a:latin typeface="Times New Roman"/>
                <a:ea typeface="Times New Roman"/>
                <a:cs typeface="Times New Roman"/>
                <a:sym typeface="Times New Roman"/>
              </a:rPr>
              <a:t>In In-Order traversal, the root node is visited between the left child and right child. In this traversal, the left child node is visited first, then the root node is visited and later we go for visiting the right child node. This in-order traversal is applicable for every root node of all subtrees in the tree. This is performed recursively for all nodes in the tree.</a:t>
            </a:r>
            <a:endParaRPr b="1" i="0" sz="2400">
              <a:solidFill>
                <a:srgbClr val="E00D5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1" marL="457200" marR="0" rtl="0" algn="l">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422" name="Google Shape;10422;p22"/>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20"/>
                                        </p:tgtEl>
                                        <p:attrNameLst>
                                          <p:attrName>style.visibility</p:attrName>
                                        </p:attrNameLst>
                                      </p:cBhvr>
                                      <p:to>
                                        <p:strVal val="visible"/>
                                      </p:to>
                                    </p:set>
                                    <p:animEffect filter="fade" transition="in">
                                      <p:cBhvr>
                                        <p:cTn dur="500"/>
                                        <p:tgtEl>
                                          <p:spTgt spid="10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6" name="Shape 10426"/>
        <p:cNvGrpSpPr/>
        <p:nvPr/>
      </p:nvGrpSpPr>
      <p:grpSpPr>
        <a:xfrm>
          <a:off x="0" y="0"/>
          <a:ext cx="0" cy="0"/>
          <a:chOff x="0" y="0"/>
          <a:chExt cx="0" cy="0"/>
        </a:xfrm>
      </p:grpSpPr>
      <p:sp>
        <p:nvSpPr>
          <p:cNvPr id="10427" name="Google Shape;10427;p23"/>
          <p:cNvSpPr/>
          <p:nvPr/>
        </p:nvSpPr>
        <p:spPr>
          <a:xfrm>
            <a:off x="2990477" y="245393"/>
            <a:ext cx="8100300" cy="7095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IN" sz="2400">
                <a:solidFill>
                  <a:schemeClr val="lt1"/>
                </a:solidFill>
                <a:latin typeface="Times New Roman"/>
                <a:ea typeface="Times New Roman"/>
                <a:cs typeface="Times New Roman"/>
                <a:sym typeface="Times New Roman"/>
              </a:rPr>
              <a:t>Example of In-Order Traversal                     </a:t>
            </a:r>
            <a:r>
              <a:rPr lang="en-IN" sz="2400">
                <a:solidFill>
                  <a:schemeClr val="lt1"/>
                </a:solidFill>
                <a:latin typeface="Times New Roman"/>
                <a:ea typeface="Times New Roman"/>
                <a:cs typeface="Times New Roman"/>
                <a:sym typeface="Times New Roman"/>
              </a:rPr>
              <a:t>(Cont..)</a:t>
            </a:r>
            <a:endParaRPr/>
          </a:p>
        </p:txBody>
      </p:sp>
      <p:sp>
        <p:nvSpPr>
          <p:cNvPr id="10428" name="Google Shape;10428;p23"/>
          <p:cNvSpPr/>
          <p:nvPr/>
        </p:nvSpPr>
        <p:spPr>
          <a:xfrm>
            <a:off x="324592" y="1331748"/>
            <a:ext cx="11542800" cy="554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400">
                <a:solidFill>
                  <a:schemeClr val="dk1"/>
                </a:solidFill>
                <a:latin typeface="Times New Roman"/>
                <a:ea typeface="Times New Roman"/>
                <a:cs typeface="Times New Roman"/>
                <a:sym typeface="Times New Roman"/>
              </a:rPr>
              <a:t>In-Order Traversal for belo example of binary tree is</a:t>
            </a:r>
            <a:br>
              <a:rPr lang="en-IN" sz="2400">
                <a:solidFill>
                  <a:schemeClr val="dk1"/>
                </a:solidFill>
                <a:latin typeface="Times New Roman"/>
                <a:ea typeface="Times New Roman"/>
                <a:cs typeface="Times New Roman"/>
                <a:sym typeface="Times New Roman"/>
              </a:rPr>
            </a:br>
            <a:r>
              <a:rPr lang="en-IN" sz="2400">
                <a:solidFill>
                  <a:schemeClr val="dk1"/>
                </a:solidFill>
                <a:latin typeface="Times New Roman"/>
                <a:ea typeface="Times New Roman"/>
                <a:cs typeface="Times New Roman"/>
                <a:sym typeface="Times New Roman"/>
              </a:rPr>
              <a:t>                           </a:t>
            </a:r>
            <a:r>
              <a:rPr b="1" i="0" lang="en-IN" sz="2400">
                <a:solidFill>
                  <a:srgbClr val="333333"/>
                </a:solidFill>
                <a:latin typeface="Times New Roman"/>
                <a:ea typeface="Times New Roman"/>
                <a:cs typeface="Times New Roman"/>
                <a:sym typeface="Times New Roman"/>
              </a:rPr>
              <a:t>I - D - J - B - F - A - G - K - C - H</a:t>
            </a:r>
            <a:endParaRPr/>
          </a:p>
          <a:p>
            <a:pPr indent="0" lvl="0" marL="0" marR="0" rtl="0" algn="l">
              <a:spcBef>
                <a:spcPts val="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i="0" lang="en-IN" sz="2000">
                <a:solidFill>
                  <a:schemeClr val="dk1"/>
                </a:solidFill>
                <a:latin typeface="Times New Roman"/>
                <a:ea typeface="Times New Roman"/>
                <a:cs typeface="Times New Roman"/>
                <a:sym typeface="Times New Roman"/>
              </a:rPr>
              <a:t>2. Pre - Order Traversal ( root - leftChild - rightChild )</a:t>
            </a:r>
            <a:endParaRPr/>
          </a:p>
          <a:p>
            <a:pPr indent="0" lvl="0" marL="0" marR="0" rtl="0" algn="just">
              <a:lnSpc>
                <a:spcPct val="150000"/>
              </a:lnSpc>
              <a:spcBef>
                <a:spcPts val="0"/>
              </a:spcBef>
              <a:spcAft>
                <a:spcPts val="0"/>
              </a:spcAft>
              <a:buNone/>
            </a:pPr>
            <a:r>
              <a:rPr b="0" i="0" lang="en-IN" sz="2000">
                <a:solidFill>
                  <a:srgbClr val="333333"/>
                </a:solidFill>
                <a:latin typeface="Times New Roman"/>
                <a:ea typeface="Times New Roman"/>
                <a:cs typeface="Times New Roman"/>
                <a:sym typeface="Times New Roman"/>
              </a:rPr>
              <a:t>In Pre-Order traversal, the root node is visited before the left child and right child nodes. In this traversal, the root node is visited first, then its left child and later its right child. This pre-order traversal is applicable for every root node of all subtrees in the tree.</a:t>
            </a:r>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pic>
        <p:nvPicPr>
          <p:cNvPr id="10429" name="Google Shape;10429;p23"/>
          <p:cNvPicPr preferRelativeResize="0"/>
          <p:nvPr/>
        </p:nvPicPr>
        <p:blipFill rotWithShape="1">
          <a:blip r:embed="rId3">
            <a:alphaModFix/>
          </a:blip>
          <a:srcRect b="0" l="0" r="0" t="0"/>
          <a:stretch/>
        </p:blipFill>
        <p:spPr>
          <a:xfrm>
            <a:off x="2266491" y="2000250"/>
            <a:ext cx="6667500" cy="2857500"/>
          </a:xfrm>
          <a:prstGeom prst="rect">
            <a:avLst/>
          </a:prstGeom>
          <a:noFill/>
          <a:ln>
            <a:noFill/>
          </a:ln>
        </p:spPr>
      </p:pic>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27"/>
                                        </p:tgtEl>
                                        <p:attrNameLst>
                                          <p:attrName>style.visibility</p:attrName>
                                        </p:attrNameLst>
                                      </p:cBhvr>
                                      <p:to>
                                        <p:strVal val="visible"/>
                                      </p:to>
                                    </p:set>
                                    <p:animEffect filter="fade" transition="in">
                                      <p:cBhvr>
                                        <p:cTn dur="500"/>
                                        <p:tgtEl>
                                          <p:spTgt spid="10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3" name="Shape 10433"/>
        <p:cNvGrpSpPr/>
        <p:nvPr/>
      </p:nvGrpSpPr>
      <p:grpSpPr>
        <a:xfrm>
          <a:off x="0" y="0"/>
          <a:ext cx="0" cy="0"/>
          <a:chOff x="0" y="0"/>
          <a:chExt cx="0" cy="0"/>
        </a:xfrm>
      </p:grpSpPr>
      <p:sp>
        <p:nvSpPr>
          <p:cNvPr id="10434" name="Google Shape;10434;p24"/>
          <p:cNvSpPr txBox="1"/>
          <p:nvPr>
            <p:ph idx="1" type="body"/>
          </p:nvPr>
        </p:nvSpPr>
        <p:spPr>
          <a:xfrm>
            <a:off x="838200" y="1156771"/>
            <a:ext cx="10515600" cy="5364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b="1" i="0" lang="en-IN">
                <a:latin typeface="Times New Roman"/>
                <a:ea typeface="Times New Roman"/>
                <a:cs typeface="Times New Roman"/>
                <a:sym typeface="Times New Roman"/>
              </a:rPr>
              <a:t>Pre-Order Traversal for </a:t>
            </a:r>
            <a:r>
              <a:rPr b="1" lang="en-IN">
                <a:latin typeface="Times New Roman"/>
                <a:ea typeface="Times New Roman"/>
                <a:cs typeface="Times New Roman"/>
                <a:sym typeface="Times New Roman"/>
              </a:rPr>
              <a:t>below </a:t>
            </a:r>
            <a:r>
              <a:rPr b="1" i="0" lang="en-IN">
                <a:latin typeface="Times New Roman"/>
                <a:ea typeface="Times New Roman"/>
                <a:cs typeface="Times New Roman"/>
                <a:sym typeface="Times New Roman"/>
              </a:rPr>
              <a:t>example binary tree is</a:t>
            </a:r>
            <a:br>
              <a:rPr lang="en-IN">
                <a:latin typeface="Times New Roman"/>
                <a:ea typeface="Times New Roman"/>
                <a:cs typeface="Times New Roman"/>
                <a:sym typeface="Times New Roman"/>
              </a:rPr>
            </a:br>
            <a:r>
              <a:rPr lang="en-IN">
                <a:latin typeface="Times New Roman"/>
                <a:ea typeface="Times New Roman"/>
                <a:cs typeface="Times New Roman"/>
                <a:sym typeface="Times New Roman"/>
              </a:rPr>
              <a:t>                        </a:t>
            </a:r>
            <a:r>
              <a:rPr b="1" i="0" lang="en-IN">
                <a:solidFill>
                  <a:srgbClr val="333333"/>
                </a:solidFill>
                <a:latin typeface="Times New Roman"/>
                <a:ea typeface="Times New Roman"/>
                <a:cs typeface="Times New Roman"/>
                <a:sym typeface="Times New Roman"/>
              </a:rPr>
              <a:t>A - B - D - I - J - F - C - G - K - H</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Char char="•"/>
            </a:pPr>
            <a:r>
              <a:rPr b="1" i="0" lang="en-IN" sz="2400">
                <a:latin typeface="Times New Roman"/>
                <a:ea typeface="Times New Roman"/>
                <a:cs typeface="Times New Roman"/>
                <a:sym typeface="Times New Roman"/>
              </a:rPr>
              <a:t>3. Post - Order Traversal ( leftChild - rightChild - root )</a:t>
            </a:r>
            <a:endParaRPr i="0">
              <a:latin typeface="Times New Roman"/>
              <a:ea typeface="Times New Roman"/>
              <a:cs typeface="Times New Roman"/>
              <a:sym typeface="Times New Roman"/>
            </a:endParaRPr>
          </a:p>
          <a:p>
            <a:pPr indent="0" lvl="0" marL="0" rtl="0" algn="just">
              <a:lnSpc>
                <a:spcPct val="150000"/>
              </a:lnSpc>
              <a:spcBef>
                <a:spcPts val="1000"/>
              </a:spcBef>
              <a:spcAft>
                <a:spcPts val="0"/>
              </a:spcAft>
              <a:buClr>
                <a:srgbClr val="333333"/>
              </a:buClr>
              <a:buSzPts val="2400"/>
              <a:buNone/>
            </a:pPr>
            <a:r>
              <a:rPr b="0" i="0" lang="en-IN" sz="2400">
                <a:solidFill>
                  <a:srgbClr val="333333"/>
                </a:solidFill>
                <a:latin typeface="Times New Roman"/>
                <a:ea typeface="Times New Roman"/>
                <a:cs typeface="Times New Roman"/>
                <a:sym typeface="Times New Roman"/>
              </a:rPr>
              <a:t>In Post-Order traversal, the root node is visited after left child and right child. In this traversal, left child node is visited first, then its right child and then its root node. This is recursively performed until the right most node is visited.</a:t>
            </a:r>
            <a:br>
              <a:rPr b="0" i="0" lang="en-IN" sz="2400">
                <a:latin typeface="Times New Roman"/>
                <a:ea typeface="Times New Roman"/>
                <a:cs typeface="Times New Roman"/>
                <a:sym typeface="Times New Roman"/>
              </a:rPr>
            </a:br>
            <a:endParaRPr b="0" i="0">
              <a:solidFill>
                <a:srgbClr val="333333"/>
              </a:solidFill>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10435" name="Google Shape;10435;p24"/>
          <p:cNvPicPr preferRelativeResize="0"/>
          <p:nvPr/>
        </p:nvPicPr>
        <p:blipFill rotWithShape="1">
          <a:blip r:embed="rId3">
            <a:alphaModFix/>
          </a:blip>
          <a:srcRect b="0" l="0" r="0" t="0"/>
          <a:stretch/>
        </p:blipFill>
        <p:spPr>
          <a:xfrm>
            <a:off x="2397642" y="1801061"/>
            <a:ext cx="5907603" cy="2510022"/>
          </a:xfrm>
          <a:prstGeom prst="rect">
            <a:avLst/>
          </a:prstGeom>
          <a:noFill/>
          <a:ln>
            <a:noFill/>
          </a:ln>
        </p:spPr>
      </p:pic>
      <p:sp>
        <p:nvSpPr>
          <p:cNvPr id="10436" name="Google Shape;10436;p24"/>
          <p:cNvSpPr/>
          <p:nvPr/>
        </p:nvSpPr>
        <p:spPr>
          <a:xfrm>
            <a:off x="2243190" y="253280"/>
            <a:ext cx="6164400" cy="7095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2800">
                <a:solidFill>
                  <a:schemeClr val="lt1"/>
                </a:solidFill>
                <a:latin typeface="Times New Roman"/>
                <a:ea typeface="Times New Roman"/>
                <a:cs typeface="Times New Roman"/>
                <a:sym typeface="Times New Roman"/>
              </a:rPr>
              <a:t>Example of Pre -Order Traversal</a:t>
            </a:r>
            <a:endParaRPr sz="2400">
              <a:solidFill>
                <a:schemeClr val="lt1"/>
              </a:solidFill>
              <a:latin typeface="Times New Roman"/>
              <a:ea typeface="Times New Roman"/>
              <a:cs typeface="Times New Roman"/>
              <a:sym typeface="Times New Roman"/>
            </a:endParaRPr>
          </a:p>
        </p:txBody>
      </p:sp>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6"/>
                                        </p:tgtEl>
                                        <p:attrNameLst>
                                          <p:attrName>style.visibility</p:attrName>
                                        </p:attrNameLst>
                                      </p:cBhvr>
                                      <p:to>
                                        <p:strVal val="visible"/>
                                      </p:to>
                                    </p:set>
                                    <p:animEffect filter="fade" transition="in">
                                      <p:cBhvr>
                                        <p:cTn dur="500"/>
                                        <p:tgtEl>
                                          <p:spTgt spid="10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0" name="Shape 10440"/>
        <p:cNvGrpSpPr/>
        <p:nvPr/>
      </p:nvGrpSpPr>
      <p:grpSpPr>
        <a:xfrm>
          <a:off x="0" y="0"/>
          <a:ext cx="0" cy="0"/>
          <a:chOff x="0" y="0"/>
          <a:chExt cx="0" cy="0"/>
        </a:xfrm>
      </p:grpSpPr>
      <p:sp>
        <p:nvSpPr>
          <p:cNvPr id="10441" name="Google Shape;10441;p25"/>
          <p:cNvSpPr txBox="1"/>
          <p:nvPr>
            <p:ph idx="1" type="body"/>
          </p:nvPr>
        </p:nvSpPr>
        <p:spPr>
          <a:xfrm>
            <a:off x="838200" y="1366463"/>
            <a:ext cx="10515600" cy="48105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b="1" i="0" lang="en-IN">
                <a:latin typeface="Times New Roman"/>
                <a:ea typeface="Times New Roman"/>
                <a:cs typeface="Times New Roman"/>
                <a:sym typeface="Times New Roman"/>
              </a:rPr>
              <a:t>Post-Order Traversal for </a:t>
            </a:r>
            <a:r>
              <a:rPr b="1" lang="en-IN">
                <a:latin typeface="Times New Roman"/>
                <a:ea typeface="Times New Roman"/>
                <a:cs typeface="Times New Roman"/>
                <a:sym typeface="Times New Roman"/>
              </a:rPr>
              <a:t>below </a:t>
            </a:r>
            <a:r>
              <a:rPr b="1" i="0" lang="en-IN">
                <a:latin typeface="Times New Roman"/>
                <a:ea typeface="Times New Roman"/>
                <a:cs typeface="Times New Roman"/>
                <a:sym typeface="Times New Roman"/>
              </a:rPr>
              <a:t>example binary tree</a:t>
            </a:r>
            <a:endParaRPr/>
          </a:p>
          <a:p>
            <a:pPr indent="0" lvl="0" marL="0" rtl="0" algn="l">
              <a:lnSpc>
                <a:spcPct val="90000"/>
              </a:lnSpc>
              <a:spcBef>
                <a:spcPts val="1000"/>
              </a:spcBef>
              <a:spcAft>
                <a:spcPts val="0"/>
              </a:spcAft>
              <a:buClr>
                <a:schemeClr val="dk1"/>
              </a:buClr>
              <a:buSzPts val="2800"/>
              <a:buNone/>
            </a:pPr>
            <a:r>
              <a:rPr b="1" lang="en-IN">
                <a:latin typeface="Times New Roman"/>
                <a:ea typeface="Times New Roman"/>
                <a:cs typeface="Times New Roman"/>
                <a:sym typeface="Times New Roman"/>
              </a:rPr>
              <a:t>			</a:t>
            </a:r>
            <a:r>
              <a:rPr b="1" i="0" lang="en-IN">
                <a:latin typeface="Times New Roman"/>
                <a:ea typeface="Times New Roman"/>
                <a:cs typeface="Times New Roman"/>
                <a:sym typeface="Times New Roman"/>
              </a:rPr>
              <a:t>(</a:t>
            </a:r>
            <a:r>
              <a:rPr b="1" i="0" lang="en-IN" sz="2800">
                <a:latin typeface="Times New Roman"/>
                <a:ea typeface="Times New Roman"/>
                <a:cs typeface="Times New Roman"/>
                <a:sym typeface="Times New Roman"/>
              </a:rPr>
              <a:t>leftChild - rightChild - root </a:t>
            </a:r>
            <a:r>
              <a:rPr b="1" i="0" lang="en-IN">
                <a:latin typeface="Times New Roman"/>
                <a:ea typeface="Times New Roman"/>
                <a:cs typeface="Times New Roman"/>
                <a:sym typeface="Times New Roman"/>
              </a:rPr>
              <a:t>) is</a:t>
            </a:r>
            <a:br>
              <a:rPr lang="en-IN">
                <a:latin typeface="Times New Roman"/>
                <a:ea typeface="Times New Roman"/>
                <a:cs typeface="Times New Roman"/>
                <a:sym typeface="Times New Roman"/>
              </a:rPr>
            </a:br>
            <a:r>
              <a:rPr lang="en-IN">
                <a:latin typeface="Times New Roman"/>
                <a:ea typeface="Times New Roman"/>
                <a:cs typeface="Times New Roman"/>
                <a:sym typeface="Times New Roman"/>
              </a:rPr>
              <a:t>                        </a:t>
            </a:r>
            <a:r>
              <a:rPr b="1" i="0" lang="en-IN">
                <a:solidFill>
                  <a:srgbClr val="333333"/>
                </a:solidFill>
                <a:latin typeface="Times New Roman"/>
                <a:ea typeface="Times New Roman"/>
                <a:cs typeface="Times New Roman"/>
                <a:sym typeface="Times New Roman"/>
              </a:rPr>
              <a:t> I - J - D - F - B - K- G - H - C - A</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0442" name="Google Shape;10442;p25"/>
          <p:cNvPicPr preferRelativeResize="0"/>
          <p:nvPr/>
        </p:nvPicPr>
        <p:blipFill rotWithShape="1">
          <a:blip r:embed="rId3">
            <a:alphaModFix/>
          </a:blip>
          <a:srcRect b="0" l="0" r="0" t="0"/>
          <a:stretch/>
        </p:blipFill>
        <p:spPr>
          <a:xfrm>
            <a:off x="2397642" y="3218889"/>
            <a:ext cx="5907603" cy="2510022"/>
          </a:xfrm>
          <a:prstGeom prst="rect">
            <a:avLst/>
          </a:prstGeom>
          <a:noFill/>
          <a:ln>
            <a:noFill/>
          </a:ln>
        </p:spPr>
      </p:pic>
      <p:sp>
        <p:nvSpPr>
          <p:cNvPr id="10443" name="Google Shape;10443;p25"/>
          <p:cNvSpPr/>
          <p:nvPr/>
        </p:nvSpPr>
        <p:spPr>
          <a:xfrm>
            <a:off x="2243190" y="253280"/>
            <a:ext cx="6164400" cy="7095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2800">
                <a:solidFill>
                  <a:schemeClr val="lt1"/>
                </a:solidFill>
                <a:latin typeface="Times New Roman"/>
                <a:ea typeface="Times New Roman"/>
                <a:cs typeface="Times New Roman"/>
                <a:sym typeface="Times New Roman"/>
              </a:rPr>
              <a:t>Example of Post-Order Traversal</a:t>
            </a:r>
            <a:endParaRPr sz="2400">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43"/>
                                        </p:tgtEl>
                                        <p:attrNameLst>
                                          <p:attrName>style.visibility</p:attrName>
                                        </p:attrNameLst>
                                      </p:cBhvr>
                                      <p:to>
                                        <p:strVal val="visible"/>
                                      </p:to>
                                    </p:set>
                                    <p:animEffect filter="fade" transition="in">
                                      <p:cBhvr>
                                        <p:cTn dur="500"/>
                                        <p:tgtEl>
                                          <p:spTgt spid="10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7" name="Shape 10447"/>
        <p:cNvGrpSpPr/>
        <p:nvPr/>
      </p:nvGrpSpPr>
      <p:grpSpPr>
        <a:xfrm>
          <a:off x="0" y="0"/>
          <a:ext cx="0" cy="0"/>
          <a:chOff x="0" y="0"/>
          <a:chExt cx="0" cy="0"/>
        </a:xfrm>
      </p:grpSpPr>
      <p:sp>
        <p:nvSpPr>
          <p:cNvPr id="10448" name="Google Shape;10448;p26"/>
          <p:cNvSpPr/>
          <p:nvPr/>
        </p:nvSpPr>
        <p:spPr>
          <a:xfrm>
            <a:off x="2243190" y="253280"/>
            <a:ext cx="6592200" cy="7095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3600">
                <a:solidFill>
                  <a:schemeClr val="lt1"/>
                </a:solidFill>
                <a:latin typeface="Times New Roman"/>
                <a:ea typeface="Times New Roman"/>
                <a:cs typeface="Times New Roman"/>
                <a:sym typeface="Times New Roman"/>
              </a:rPr>
              <a:t>Expression Tree</a:t>
            </a:r>
            <a:endParaRPr/>
          </a:p>
        </p:txBody>
      </p:sp>
      <p:sp>
        <p:nvSpPr>
          <p:cNvPr id="10449" name="Google Shape;10449;p26"/>
          <p:cNvSpPr txBox="1"/>
          <p:nvPr>
            <p:ph idx="1" type="body"/>
          </p:nvPr>
        </p:nvSpPr>
        <p:spPr>
          <a:xfrm>
            <a:off x="838199" y="1175656"/>
            <a:ext cx="11072700" cy="5498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b="0" i="0" lang="en-IN" sz="2400">
                <a:latin typeface="Times New Roman"/>
                <a:ea typeface="Times New Roman"/>
                <a:cs typeface="Times New Roman"/>
                <a:sym typeface="Times New Roman"/>
              </a:rPr>
              <a:t>An expression tree is a special type of </a:t>
            </a:r>
            <a:r>
              <a:rPr b="1" i="0" lang="en-IN" sz="2400">
                <a:latin typeface="Times New Roman"/>
                <a:ea typeface="Times New Roman"/>
                <a:cs typeface="Times New Roman"/>
                <a:sym typeface="Times New Roman"/>
              </a:rPr>
              <a:t> binary tree </a:t>
            </a:r>
            <a:r>
              <a:rPr b="0" i="0" lang="en-IN" sz="2400">
                <a:latin typeface="Times New Roman"/>
                <a:ea typeface="Times New Roman"/>
                <a:cs typeface="Times New Roman"/>
                <a:sym typeface="Times New Roman"/>
              </a:rPr>
              <a:t> that is used to store algebraic expressions.</a:t>
            </a:r>
            <a:r>
              <a:rPr lang="en-IN" sz="2400">
                <a:latin typeface="Times New Roman"/>
                <a:ea typeface="Times New Roman"/>
                <a:cs typeface="Times New Roman"/>
                <a:sym typeface="Times New Roman"/>
              </a:rPr>
              <a:t> </a:t>
            </a:r>
            <a:endParaRPr b="0" i="0"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Char char="•"/>
            </a:pPr>
            <a:r>
              <a:rPr b="0" i="0" lang="en-IN" sz="2400">
                <a:latin typeface="Times New Roman"/>
                <a:ea typeface="Times New Roman"/>
                <a:cs typeface="Times New Roman"/>
                <a:sym typeface="Times New Roman"/>
              </a:rPr>
              <a:t>Consider the algebraic expression given as: </a:t>
            </a:r>
            <a:r>
              <a:rPr b="0" i="0" lang="en-IN" sz="2400">
                <a:solidFill>
                  <a:srgbClr val="2F3235"/>
                </a:solidFill>
                <a:latin typeface="Times New Roman"/>
                <a:ea typeface="Times New Roman"/>
                <a:cs typeface="Times New Roman"/>
                <a:sym typeface="Times New Roman"/>
              </a:rPr>
              <a:t>X = </a:t>
            </a:r>
            <a:r>
              <a:rPr b="0" i="0" lang="en-IN" sz="2400">
                <a:solidFill>
                  <a:srgbClr val="777777"/>
                </a:solidFill>
                <a:latin typeface="Times New Roman"/>
                <a:ea typeface="Times New Roman"/>
                <a:cs typeface="Times New Roman"/>
                <a:sym typeface="Times New Roman"/>
              </a:rPr>
              <a:t>(</a:t>
            </a:r>
            <a:r>
              <a:rPr b="0" i="0" lang="en-IN" sz="2400">
                <a:solidFill>
                  <a:srgbClr val="2F3235"/>
                </a:solidFill>
                <a:latin typeface="Times New Roman"/>
                <a:ea typeface="Times New Roman"/>
                <a:cs typeface="Times New Roman"/>
                <a:sym typeface="Times New Roman"/>
              </a:rPr>
              <a:t>a + b</a:t>
            </a:r>
            <a:r>
              <a:rPr b="0" i="0" lang="en-IN" sz="2400">
                <a:solidFill>
                  <a:srgbClr val="777777"/>
                </a:solidFill>
                <a:latin typeface="Times New Roman"/>
                <a:ea typeface="Times New Roman"/>
                <a:cs typeface="Times New Roman"/>
                <a:sym typeface="Times New Roman"/>
              </a:rPr>
              <a:t>)</a:t>
            </a:r>
            <a:r>
              <a:rPr b="0" i="0" lang="en-IN" sz="2400">
                <a:solidFill>
                  <a:srgbClr val="2F3235"/>
                </a:solidFill>
                <a:latin typeface="Times New Roman"/>
                <a:ea typeface="Times New Roman"/>
                <a:cs typeface="Times New Roman"/>
                <a:sym typeface="Times New Roman"/>
              </a:rPr>
              <a:t> - </a:t>
            </a:r>
            <a:r>
              <a:rPr b="0" i="0" lang="en-IN" sz="2400">
                <a:solidFill>
                  <a:srgbClr val="777777"/>
                </a:solidFill>
                <a:latin typeface="Times New Roman"/>
                <a:ea typeface="Times New Roman"/>
                <a:cs typeface="Times New Roman"/>
                <a:sym typeface="Times New Roman"/>
              </a:rPr>
              <a:t>(</a:t>
            </a:r>
            <a:r>
              <a:rPr b="0" i="0" lang="en-IN" sz="2400">
                <a:solidFill>
                  <a:srgbClr val="2F3235"/>
                </a:solidFill>
                <a:latin typeface="Times New Roman"/>
                <a:ea typeface="Times New Roman"/>
                <a:cs typeface="Times New Roman"/>
                <a:sym typeface="Times New Roman"/>
              </a:rPr>
              <a:t>c </a:t>
            </a:r>
            <a:r>
              <a:rPr b="0" i="0" lang="en-IN" sz="2400">
                <a:solidFill>
                  <a:srgbClr val="777777"/>
                </a:solidFill>
                <a:latin typeface="Times New Roman"/>
                <a:ea typeface="Times New Roman"/>
                <a:cs typeface="Times New Roman"/>
                <a:sym typeface="Times New Roman"/>
              </a:rPr>
              <a:t>*</a:t>
            </a:r>
            <a:r>
              <a:rPr b="0" i="0" lang="en-IN" sz="2400">
                <a:solidFill>
                  <a:srgbClr val="2F3235"/>
                </a:solidFill>
                <a:latin typeface="Times New Roman"/>
                <a:ea typeface="Times New Roman"/>
                <a:cs typeface="Times New Roman"/>
                <a:sym typeface="Times New Roman"/>
              </a:rPr>
              <a:t> d</a:t>
            </a:r>
            <a:r>
              <a:rPr b="0" i="0" lang="en-IN" sz="2400">
                <a:solidFill>
                  <a:srgbClr val="777777"/>
                </a:solidFill>
                <a:latin typeface="Times New Roman"/>
                <a:ea typeface="Times New Roman"/>
                <a:cs typeface="Times New Roman"/>
                <a:sym typeface="Times New Roman"/>
              </a:rPr>
              <a:t>)</a:t>
            </a:r>
            <a:r>
              <a:rPr lang="en-IN" sz="2400">
                <a:solidFill>
                  <a:srgbClr val="333333"/>
                </a:solidFill>
                <a:latin typeface="Times New Roman"/>
                <a:ea typeface="Times New Roman"/>
                <a:cs typeface="Times New Roman"/>
                <a:sym typeface="Times New Roman"/>
              </a:rPr>
              <a:t>. </a:t>
            </a:r>
            <a:r>
              <a:rPr b="0" i="0" lang="en-IN" sz="2400">
                <a:latin typeface="Times New Roman"/>
                <a:ea typeface="Times New Roman"/>
                <a:cs typeface="Times New Roman"/>
                <a:sym typeface="Times New Roman"/>
              </a:rPr>
              <a:t>This can be represented using a binary tree as follows:</a:t>
            </a:r>
            <a:endParaRPr/>
          </a:p>
          <a:p>
            <a:pPr indent="-76200" lvl="0" marL="22860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76200" lvl="0" marL="22860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76200" lvl="0" marL="22860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76200" lvl="0" marL="22860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Char char="•"/>
            </a:pPr>
            <a:r>
              <a:rPr b="0" i="0" lang="en-IN" sz="2400">
                <a:latin typeface="Times New Roman"/>
                <a:ea typeface="Times New Roman"/>
                <a:cs typeface="Times New Roman"/>
                <a:sym typeface="Times New Roman"/>
              </a:rPr>
              <a:t>The </a:t>
            </a:r>
            <a:r>
              <a:rPr b="1" i="0" lang="en-IN">
                <a:latin typeface="Times New Roman"/>
                <a:ea typeface="Times New Roman"/>
                <a:cs typeface="Times New Roman"/>
                <a:sym typeface="Times New Roman"/>
              </a:rPr>
              <a:t>in-order traversal </a:t>
            </a:r>
            <a:r>
              <a:rPr b="0" i="0" lang="en-IN" sz="2400">
                <a:latin typeface="Times New Roman"/>
                <a:ea typeface="Times New Roman"/>
                <a:cs typeface="Times New Roman"/>
                <a:sym typeface="Times New Roman"/>
              </a:rPr>
              <a:t>of the tree returns the </a:t>
            </a:r>
            <a:r>
              <a:rPr b="1" i="0" lang="en-IN">
                <a:latin typeface="Times New Roman"/>
                <a:ea typeface="Times New Roman"/>
                <a:cs typeface="Times New Roman"/>
                <a:sym typeface="Times New Roman"/>
              </a:rPr>
              <a:t>infix expression</a:t>
            </a:r>
            <a:r>
              <a:rPr b="0" i="0" lang="en-IN" sz="2400">
                <a:latin typeface="Times New Roman"/>
                <a:ea typeface="Times New Roman"/>
                <a:cs typeface="Times New Roman"/>
                <a:sym typeface="Times New Roman"/>
              </a:rPr>
              <a:t>. </a:t>
            </a:r>
            <a:endParaRPr/>
          </a:p>
          <a:p>
            <a:pPr indent="-228600" lvl="0" marL="228600" rtl="0" algn="l">
              <a:lnSpc>
                <a:spcPct val="90000"/>
              </a:lnSpc>
              <a:spcBef>
                <a:spcPts val="1000"/>
              </a:spcBef>
              <a:spcAft>
                <a:spcPts val="0"/>
              </a:spcAft>
              <a:buClr>
                <a:schemeClr val="dk1"/>
              </a:buClr>
              <a:buSzPts val="2400"/>
              <a:buChar char="•"/>
            </a:pPr>
            <a:r>
              <a:rPr b="0" i="0" lang="en-IN" sz="2400">
                <a:latin typeface="Times New Roman"/>
                <a:ea typeface="Times New Roman"/>
                <a:cs typeface="Times New Roman"/>
                <a:sym typeface="Times New Roman"/>
              </a:rPr>
              <a:t>Similarly, the </a:t>
            </a:r>
            <a:r>
              <a:rPr b="1" i="0" lang="en-IN">
                <a:latin typeface="Times New Roman"/>
                <a:ea typeface="Times New Roman"/>
                <a:cs typeface="Times New Roman"/>
                <a:sym typeface="Times New Roman"/>
              </a:rPr>
              <a:t>pre-order </a:t>
            </a:r>
            <a:r>
              <a:rPr b="0" i="0" lang="en-IN" sz="2400">
                <a:latin typeface="Times New Roman"/>
                <a:ea typeface="Times New Roman"/>
                <a:cs typeface="Times New Roman"/>
                <a:sym typeface="Times New Roman"/>
              </a:rPr>
              <a:t>and </a:t>
            </a:r>
            <a:r>
              <a:rPr b="1" i="0" lang="en-IN">
                <a:latin typeface="Times New Roman"/>
                <a:ea typeface="Times New Roman"/>
                <a:cs typeface="Times New Roman"/>
                <a:sym typeface="Times New Roman"/>
              </a:rPr>
              <a:t>post-order</a:t>
            </a:r>
            <a:r>
              <a:rPr b="0" i="0" lang="en-IN" sz="2400">
                <a:latin typeface="Times New Roman"/>
                <a:ea typeface="Times New Roman"/>
                <a:cs typeface="Times New Roman"/>
                <a:sym typeface="Times New Roman"/>
              </a:rPr>
              <a:t> traversal of the expression tree will return </a:t>
            </a:r>
            <a:r>
              <a:rPr b="1" i="0" lang="en-IN">
                <a:latin typeface="Times New Roman"/>
                <a:ea typeface="Times New Roman"/>
                <a:cs typeface="Times New Roman"/>
                <a:sym typeface="Times New Roman"/>
              </a:rPr>
              <a:t>prefix</a:t>
            </a:r>
            <a:r>
              <a:rPr b="0" i="0" lang="en-IN" sz="2400">
                <a:latin typeface="Times New Roman"/>
                <a:ea typeface="Times New Roman"/>
                <a:cs typeface="Times New Roman"/>
                <a:sym typeface="Times New Roman"/>
              </a:rPr>
              <a:t> and </a:t>
            </a:r>
            <a:r>
              <a:rPr b="1" i="0" lang="en-IN">
                <a:latin typeface="Times New Roman"/>
                <a:ea typeface="Times New Roman"/>
                <a:cs typeface="Times New Roman"/>
                <a:sym typeface="Times New Roman"/>
              </a:rPr>
              <a:t>postfix</a:t>
            </a:r>
            <a:r>
              <a:rPr b="0" i="0" lang="en-IN" sz="2400">
                <a:latin typeface="Times New Roman"/>
                <a:ea typeface="Times New Roman"/>
                <a:cs typeface="Times New Roman"/>
                <a:sym typeface="Times New Roman"/>
              </a:rPr>
              <a:t> expression respectively.</a:t>
            </a:r>
            <a:endParaRPr sz="3600">
              <a:latin typeface="Times New Roman"/>
              <a:ea typeface="Times New Roman"/>
              <a:cs typeface="Times New Roman"/>
              <a:sym typeface="Times New Roman"/>
            </a:endParaRPr>
          </a:p>
        </p:txBody>
      </p:sp>
      <p:pic>
        <p:nvPicPr>
          <p:cNvPr descr="Expression Tree" id="10450" name="Google Shape;10450;p26"/>
          <p:cNvPicPr preferRelativeResize="0"/>
          <p:nvPr/>
        </p:nvPicPr>
        <p:blipFill rotWithShape="1">
          <a:blip r:embed="rId3">
            <a:alphaModFix/>
          </a:blip>
          <a:srcRect b="0" l="0" r="0" t="0"/>
          <a:stretch/>
        </p:blipFill>
        <p:spPr>
          <a:xfrm>
            <a:off x="4829175" y="3234489"/>
            <a:ext cx="2533650" cy="1865350"/>
          </a:xfrm>
          <a:prstGeom prst="rect">
            <a:avLst/>
          </a:prstGeom>
          <a:noFill/>
          <a:ln>
            <a:noFill/>
          </a:ln>
        </p:spPr>
      </p:pic>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48"/>
                                        </p:tgtEl>
                                        <p:attrNameLst>
                                          <p:attrName>style.visibility</p:attrName>
                                        </p:attrNameLst>
                                      </p:cBhvr>
                                      <p:to>
                                        <p:strVal val="visible"/>
                                      </p:to>
                                    </p:set>
                                    <p:animEffect filter="fade" transition="in">
                                      <p:cBhvr>
                                        <p:cTn dur="500"/>
                                        <p:tgtEl>
                                          <p:spTgt spid="10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4" name="Shape 10454"/>
        <p:cNvGrpSpPr/>
        <p:nvPr/>
      </p:nvGrpSpPr>
      <p:grpSpPr>
        <a:xfrm>
          <a:off x="0" y="0"/>
          <a:ext cx="0" cy="0"/>
          <a:chOff x="0" y="0"/>
          <a:chExt cx="0" cy="0"/>
        </a:xfrm>
      </p:grpSpPr>
      <p:sp>
        <p:nvSpPr>
          <p:cNvPr id="10455" name="Google Shape;10455;p27"/>
          <p:cNvSpPr/>
          <p:nvPr/>
        </p:nvSpPr>
        <p:spPr>
          <a:xfrm>
            <a:off x="2243190" y="253280"/>
            <a:ext cx="6164400" cy="7095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2800">
                <a:solidFill>
                  <a:schemeClr val="lt1"/>
                </a:solidFill>
                <a:latin typeface="Times New Roman"/>
                <a:ea typeface="Times New Roman"/>
                <a:cs typeface="Times New Roman"/>
                <a:sym typeface="Times New Roman"/>
              </a:rPr>
              <a:t>Example of Pre -Order Traversal</a:t>
            </a:r>
            <a:endParaRPr sz="2400">
              <a:solidFill>
                <a:schemeClr val="lt1"/>
              </a:solidFill>
              <a:latin typeface="Times New Roman"/>
              <a:ea typeface="Times New Roman"/>
              <a:cs typeface="Times New Roman"/>
              <a:sym typeface="Times New Roman"/>
            </a:endParaRPr>
          </a:p>
        </p:txBody>
      </p:sp>
      <p:sp>
        <p:nvSpPr>
          <p:cNvPr id="10456" name="Google Shape;10456;p27"/>
          <p:cNvSpPr/>
          <p:nvPr/>
        </p:nvSpPr>
        <p:spPr>
          <a:xfrm>
            <a:off x="356259" y="1320731"/>
            <a:ext cx="11732700" cy="1261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800">
                <a:solidFill>
                  <a:schemeClr val="dk1"/>
                </a:solidFill>
                <a:latin typeface="Times New Roman"/>
                <a:ea typeface="Times New Roman"/>
                <a:cs typeface="Times New Roman"/>
                <a:sym typeface="Times New Roman"/>
              </a:rPr>
              <a:t> </a:t>
            </a:r>
            <a:r>
              <a:rPr b="1" i="0" lang="en-IN" sz="2400">
                <a:solidFill>
                  <a:schemeClr val="dk1"/>
                </a:solidFill>
                <a:latin typeface="Times New Roman"/>
                <a:ea typeface="Times New Roman"/>
                <a:cs typeface="Times New Roman"/>
                <a:sym typeface="Times New Roman"/>
              </a:rPr>
              <a:t>Post-Order Traversal for above example binary tree is</a:t>
            </a:r>
            <a:br>
              <a:rPr lang="en-IN" sz="2400">
                <a:solidFill>
                  <a:schemeClr val="dk1"/>
                </a:solidFill>
                <a:latin typeface="Times New Roman"/>
                <a:ea typeface="Times New Roman"/>
                <a:cs typeface="Times New Roman"/>
                <a:sym typeface="Times New Roman"/>
              </a:rPr>
            </a:br>
            <a:r>
              <a:rPr lang="en-IN" sz="2400">
                <a:solidFill>
                  <a:schemeClr val="dk1"/>
                </a:solidFill>
                <a:latin typeface="Times New Roman"/>
                <a:ea typeface="Times New Roman"/>
                <a:cs typeface="Times New Roman"/>
                <a:sym typeface="Times New Roman"/>
              </a:rPr>
              <a:t>                        </a:t>
            </a:r>
            <a:r>
              <a:rPr b="1" i="0" lang="en-IN" sz="2400">
                <a:solidFill>
                  <a:srgbClr val="333333"/>
                </a:solidFill>
                <a:latin typeface="Times New Roman"/>
                <a:ea typeface="Times New Roman"/>
                <a:cs typeface="Times New Roman"/>
                <a:sym typeface="Times New Roman"/>
              </a:rPr>
              <a:t>I - J - D - F - B - K - G - H - C - A</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10457" name="Google Shape;10457;p27"/>
          <p:cNvPicPr preferRelativeResize="0"/>
          <p:nvPr/>
        </p:nvPicPr>
        <p:blipFill rotWithShape="1">
          <a:blip r:embed="rId3">
            <a:alphaModFix/>
          </a:blip>
          <a:srcRect b="0" l="0" r="0" t="0"/>
          <a:stretch/>
        </p:blipFill>
        <p:spPr>
          <a:xfrm>
            <a:off x="2144038" y="2230718"/>
            <a:ext cx="6669601" cy="2859273"/>
          </a:xfrm>
          <a:prstGeom prst="rect">
            <a:avLst/>
          </a:prstGeom>
          <a:noFill/>
          <a:ln>
            <a:noFill/>
          </a:ln>
        </p:spPr>
      </p:pic>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5"/>
                                        </p:tgtEl>
                                        <p:attrNameLst>
                                          <p:attrName>style.visibility</p:attrName>
                                        </p:attrNameLst>
                                      </p:cBhvr>
                                      <p:to>
                                        <p:strVal val="visible"/>
                                      </p:to>
                                    </p:set>
                                    <p:animEffect filter="fade" transition="in">
                                      <p:cBhvr>
                                        <p:cTn dur="500"/>
                                        <p:tgtEl>
                                          <p:spTgt spid="10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1" name="Shape 10461"/>
        <p:cNvGrpSpPr/>
        <p:nvPr/>
      </p:nvGrpSpPr>
      <p:grpSpPr>
        <a:xfrm>
          <a:off x="0" y="0"/>
          <a:ext cx="0" cy="0"/>
          <a:chOff x="0" y="0"/>
          <a:chExt cx="0" cy="0"/>
        </a:xfrm>
      </p:grpSpPr>
      <p:sp>
        <p:nvSpPr>
          <p:cNvPr id="10462" name="Google Shape;10462;p28"/>
          <p:cNvSpPr/>
          <p:nvPr/>
        </p:nvSpPr>
        <p:spPr>
          <a:xfrm>
            <a:off x="2243189" y="253280"/>
            <a:ext cx="7625100" cy="7095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2800">
                <a:solidFill>
                  <a:schemeClr val="lt1"/>
                </a:solidFill>
                <a:latin typeface="Times New Roman"/>
                <a:ea typeface="Times New Roman"/>
                <a:cs typeface="Times New Roman"/>
                <a:sym typeface="Times New Roman"/>
              </a:rPr>
              <a:t>Constructing an expression tree</a:t>
            </a:r>
            <a:endParaRPr sz="2400">
              <a:solidFill>
                <a:schemeClr val="lt1"/>
              </a:solidFill>
              <a:latin typeface="Times New Roman"/>
              <a:ea typeface="Times New Roman"/>
              <a:cs typeface="Times New Roman"/>
              <a:sym typeface="Times New Roman"/>
            </a:endParaRPr>
          </a:p>
        </p:txBody>
      </p:sp>
      <p:sp>
        <p:nvSpPr>
          <p:cNvPr id="10463" name="Google Shape;10463;p28"/>
          <p:cNvSpPr txBox="1"/>
          <p:nvPr>
            <p:ph idx="1" type="body"/>
          </p:nvPr>
        </p:nvSpPr>
        <p:spPr>
          <a:xfrm>
            <a:off x="320634" y="1167367"/>
            <a:ext cx="10515600" cy="20241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b="0" i="0" lang="en-IN" sz="2400">
                <a:latin typeface="Times New Roman"/>
                <a:ea typeface="Times New Roman"/>
                <a:cs typeface="Times New Roman"/>
                <a:sym typeface="Times New Roman"/>
              </a:rPr>
              <a:t>An expression tree can be constructed with the help of a </a:t>
            </a:r>
            <a:r>
              <a:rPr b="1" lang="en-IN">
                <a:solidFill>
                  <a:srgbClr val="141C3A"/>
                </a:solidFill>
                <a:latin typeface="Times New Roman"/>
                <a:ea typeface="Times New Roman"/>
                <a:cs typeface="Times New Roman"/>
                <a:sym typeface="Times New Roman"/>
              </a:rPr>
              <a:t>stack</a:t>
            </a:r>
            <a:r>
              <a:rPr lang="en-IN" sz="2400">
                <a:solidFill>
                  <a:srgbClr val="141C3A"/>
                </a:solidFill>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ts val="2400"/>
              <a:buChar char="•"/>
            </a:pPr>
            <a:r>
              <a:rPr b="0" i="0" lang="en-IN" sz="2400">
                <a:latin typeface="Times New Roman"/>
                <a:ea typeface="Times New Roman"/>
                <a:cs typeface="Times New Roman"/>
                <a:sym typeface="Times New Roman"/>
              </a:rPr>
              <a:t>Consider the postfix expression </a:t>
            </a:r>
            <a:r>
              <a:rPr b="0" i="0" lang="en-IN" sz="2400">
                <a:solidFill>
                  <a:srgbClr val="2F3235"/>
                </a:solidFill>
                <a:latin typeface="Times New Roman"/>
                <a:ea typeface="Times New Roman"/>
                <a:cs typeface="Times New Roman"/>
                <a:sym typeface="Times New Roman"/>
              </a:rPr>
              <a:t>a b - c *</a:t>
            </a:r>
            <a:endParaRPr b="0" i="0" sz="2400">
              <a:solidFill>
                <a:srgbClr val="333333"/>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b="0" i="0" lang="en-IN" sz="2400">
                <a:latin typeface="Times New Roman"/>
                <a:ea typeface="Times New Roman"/>
                <a:cs typeface="Times New Roman"/>
                <a:sym typeface="Times New Roman"/>
              </a:rPr>
              <a:t>The following steps are done to create an expression tree.</a:t>
            </a:r>
            <a:endParaRPr/>
          </a:p>
          <a:p>
            <a:pPr indent="-228600" lvl="0" marL="228600" rtl="0" algn="l">
              <a:lnSpc>
                <a:spcPct val="90000"/>
              </a:lnSpc>
              <a:spcBef>
                <a:spcPts val="1000"/>
              </a:spcBef>
              <a:spcAft>
                <a:spcPts val="0"/>
              </a:spcAft>
              <a:buClr>
                <a:schemeClr val="dk1"/>
              </a:buClr>
              <a:buSzPts val="2400"/>
              <a:buFont typeface="Arial"/>
              <a:buChar char="•"/>
            </a:pPr>
            <a:r>
              <a:rPr b="0" i="0" lang="en-IN" sz="2400">
                <a:latin typeface="Times New Roman"/>
                <a:ea typeface="Times New Roman"/>
                <a:cs typeface="Times New Roman"/>
                <a:sym typeface="Times New Roman"/>
              </a:rPr>
              <a:t>If the character is an operand, PUSH it on to the stack.</a:t>
            </a:r>
            <a:endParaRPr/>
          </a:p>
          <a:p>
            <a:pPr indent="-228600" lvl="0" marL="228600" rtl="0" algn="l">
              <a:lnSpc>
                <a:spcPct val="90000"/>
              </a:lnSpc>
              <a:spcBef>
                <a:spcPts val="1000"/>
              </a:spcBef>
              <a:spcAft>
                <a:spcPts val="0"/>
              </a:spcAft>
              <a:buClr>
                <a:schemeClr val="dk1"/>
              </a:buClr>
              <a:buSzPts val="2400"/>
              <a:buFont typeface="Arial"/>
              <a:buChar char="•"/>
            </a:pPr>
            <a:r>
              <a:rPr b="0" i="0" lang="en-IN" sz="2400">
                <a:latin typeface="Times New Roman"/>
                <a:ea typeface="Times New Roman"/>
                <a:cs typeface="Times New Roman"/>
                <a:sym typeface="Times New Roman"/>
              </a:rPr>
              <a:t>If the character is an operator, POP two values from the stack and insert them as the child of operator. A pointer to the new root is pushed on to the stack.</a:t>
            </a:r>
            <a:endParaRPr/>
          </a:p>
          <a:p>
            <a:pPr indent="0" lvl="0" marL="0" rtl="0" algn="l">
              <a:lnSpc>
                <a:spcPct val="90000"/>
              </a:lnSpc>
              <a:spcBef>
                <a:spcPts val="1000"/>
              </a:spcBef>
              <a:spcAft>
                <a:spcPts val="0"/>
              </a:spcAft>
              <a:buClr>
                <a:schemeClr val="dk1"/>
              </a:buClr>
              <a:buSzPts val="2400"/>
              <a:buNone/>
            </a:pPr>
            <a:r>
              <a:rPr b="0" i="0" lang="en-IN" sz="2400">
                <a:latin typeface="Times New Roman"/>
                <a:ea typeface="Times New Roman"/>
                <a:cs typeface="Times New Roman"/>
                <a:sym typeface="Times New Roman"/>
              </a:rPr>
              <a:t>Since the first two characters are operands, PUSH it onto the stack.</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descr="expression tree creation example 1" id="10464" name="Google Shape;10464;p28"/>
          <p:cNvPicPr preferRelativeResize="0"/>
          <p:nvPr/>
        </p:nvPicPr>
        <p:blipFill rotWithShape="1">
          <a:blip r:embed="rId3">
            <a:alphaModFix/>
          </a:blip>
          <a:srcRect b="0" l="0" r="0" t="0"/>
          <a:stretch/>
        </p:blipFill>
        <p:spPr>
          <a:xfrm>
            <a:off x="4200563" y="4718025"/>
            <a:ext cx="3352800" cy="590550"/>
          </a:xfrm>
          <a:prstGeom prst="rect">
            <a:avLst/>
          </a:prstGeom>
          <a:noFill/>
          <a:ln>
            <a:noFill/>
          </a:ln>
        </p:spPr>
      </p:pic>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2"/>
                                        </p:tgtEl>
                                        <p:attrNameLst>
                                          <p:attrName>style.visibility</p:attrName>
                                        </p:attrNameLst>
                                      </p:cBhvr>
                                      <p:to>
                                        <p:strVal val="visible"/>
                                      </p:to>
                                    </p:set>
                                    <p:animEffect filter="fade" transition="in">
                                      <p:cBhvr>
                                        <p:cTn dur="500"/>
                                        <p:tgtEl>
                                          <p:spTgt spid="104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8" name="Shape 10468"/>
        <p:cNvGrpSpPr/>
        <p:nvPr/>
      </p:nvGrpSpPr>
      <p:grpSpPr>
        <a:xfrm>
          <a:off x="0" y="0"/>
          <a:ext cx="0" cy="0"/>
          <a:chOff x="0" y="0"/>
          <a:chExt cx="0" cy="0"/>
        </a:xfrm>
      </p:grpSpPr>
      <p:sp>
        <p:nvSpPr>
          <p:cNvPr id="10469" name="Google Shape;10469;p29"/>
          <p:cNvSpPr/>
          <p:nvPr/>
        </p:nvSpPr>
        <p:spPr>
          <a:xfrm>
            <a:off x="320634" y="4100124"/>
            <a:ext cx="11732700" cy="461700"/>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10470" name="Google Shape;10470;p29"/>
          <p:cNvSpPr txBox="1"/>
          <p:nvPr>
            <p:ph idx="1" type="body"/>
          </p:nvPr>
        </p:nvSpPr>
        <p:spPr>
          <a:xfrm>
            <a:off x="838200" y="935871"/>
            <a:ext cx="5181600" cy="5241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b="0" i="0" lang="en-IN" sz="2000">
                <a:latin typeface="Times New Roman"/>
                <a:ea typeface="Times New Roman"/>
                <a:cs typeface="Times New Roman"/>
                <a:sym typeface="Times New Roman"/>
              </a:rPr>
              <a:t>When the (</a:t>
            </a:r>
            <a:r>
              <a:rPr b="0" i="0" lang="en-IN" sz="2000">
                <a:solidFill>
                  <a:srgbClr val="2F3235"/>
                </a:solidFill>
                <a:latin typeface="Times New Roman"/>
                <a:ea typeface="Times New Roman"/>
                <a:cs typeface="Times New Roman"/>
                <a:sym typeface="Times New Roman"/>
              </a:rPr>
              <a:t>-)</a:t>
            </a:r>
            <a:r>
              <a:rPr b="0" i="0" lang="en-IN" sz="2000">
                <a:latin typeface="Times New Roman"/>
                <a:ea typeface="Times New Roman"/>
                <a:cs typeface="Times New Roman"/>
                <a:sym typeface="Times New Roman"/>
              </a:rPr>
              <a:t>symbol is read, a and be are popped from the stack and is added as the child of node </a:t>
            </a:r>
            <a:r>
              <a:rPr b="0" i="0" lang="en-IN" sz="2000">
                <a:solidFill>
                  <a:srgbClr val="2F3235"/>
                </a:solidFill>
                <a:latin typeface="Times New Roman"/>
                <a:ea typeface="Times New Roman"/>
                <a:cs typeface="Times New Roman"/>
                <a:sym typeface="Times New Roman"/>
              </a:rPr>
              <a:t>- </a:t>
            </a:r>
            <a:r>
              <a:rPr b="0" i="0" lang="en-IN" sz="2000">
                <a:latin typeface="Times New Roman"/>
                <a:ea typeface="Times New Roman"/>
                <a:cs typeface="Times New Roman"/>
                <a:sym typeface="Times New Roman"/>
              </a:rPr>
              <a:t> A pointer to the new node is now pushed onto the stack.</a:t>
            </a:r>
            <a:endParaRPr/>
          </a:p>
          <a:p>
            <a:pPr indent="0" lvl="0" marL="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Char char="•"/>
            </a:pPr>
            <a:r>
              <a:rPr b="0" i="0" lang="en-IN" sz="2000">
                <a:latin typeface="Times New Roman"/>
                <a:ea typeface="Times New Roman"/>
                <a:cs typeface="Times New Roman"/>
                <a:sym typeface="Times New Roman"/>
              </a:rPr>
              <a:t>Now </a:t>
            </a:r>
            <a:r>
              <a:rPr b="0" i="0" lang="en-IN" sz="2000">
                <a:solidFill>
                  <a:srgbClr val="2F3235"/>
                </a:solidFill>
                <a:latin typeface="Times New Roman"/>
                <a:ea typeface="Times New Roman"/>
                <a:cs typeface="Times New Roman"/>
                <a:sym typeface="Times New Roman"/>
              </a:rPr>
              <a:t>c</a:t>
            </a:r>
            <a:r>
              <a:rPr b="0" i="0" lang="en-IN" sz="2000">
                <a:latin typeface="Times New Roman"/>
                <a:ea typeface="Times New Roman"/>
                <a:cs typeface="Times New Roman"/>
                <a:sym typeface="Times New Roman"/>
              </a:rPr>
              <a:t> is read and is pushed onto the stack.</a:t>
            </a:r>
            <a:endParaRPr sz="3200">
              <a:latin typeface="Times New Roman"/>
              <a:ea typeface="Times New Roman"/>
              <a:cs typeface="Times New Roman"/>
              <a:sym typeface="Times New Roman"/>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p:txBody>
      </p:sp>
      <p:pic>
        <p:nvPicPr>
          <p:cNvPr descr="expression tree creation example 2" id="10471" name="Google Shape;10471;p29"/>
          <p:cNvPicPr preferRelativeResize="0"/>
          <p:nvPr/>
        </p:nvPicPr>
        <p:blipFill rotWithShape="1">
          <a:blip r:embed="rId3">
            <a:alphaModFix/>
          </a:blip>
          <a:srcRect b="0" l="0" r="0" t="0"/>
          <a:stretch/>
        </p:blipFill>
        <p:spPr>
          <a:xfrm>
            <a:off x="1764651" y="2267108"/>
            <a:ext cx="3638550" cy="1400175"/>
          </a:xfrm>
          <a:prstGeom prst="rect">
            <a:avLst/>
          </a:prstGeom>
          <a:noFill/>
          <a:ln>
            <a:noFill/>
          </a:ln>
        </p:spPr>
      </p:pic>
      <p:pic>
        <p:nvPicPr>
          <p:cNvPr descr="expression tree creation example 3" id="10472" name="Google Shape;10472;p29"/>
          <p:cNvPicPr preferRelativeResize="0"/>
          <p:nvPr>
            <p:ph idx="2" type="body"/>
          </p:nvPr>
        </p:nvPicPr>
        <p:blipFill rotWithShape="1">
          <a:blip r:embed="rId4">
            <a:alphaModFix/>
          </a:blip>
          <a:srcRect b="0" l="0" r="0" t="0"/>
          <a:stretch/>
        </p:blipFill>
        <p:spPr>
          <a:xfrm>
            <a:off x="1387553" y="4669288"/>
            <a:ext cx="3638400" cy="1400100"/>
          </a:xfrm>
          <a:prstGeom prst="rect">
            <a:avLst/>
          </a:prstGeom>
          <a:noFill/>
          <a:ln>
            <a:noFill/>
          </a:ln>
        </p:spPr>
      </p:pic>
      <p:sp>
        <p:nvSpPr>
          <p:cNvPr id="10473" name="Google Shape;10473;p29"/>
          <p:cNvSpPr txBox="1"/>
          <p:nvPr/>
        </p:nvSpPr>
        <p:spPr>
          <a:xfrm>
            <a:off x="6172202" y="935871"/>
            <a:ext cx="7233600" cy="14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a:solidFill>
                  <a:schemeClr val="dk1"/>
                </a:solidFill>
                <a:latin typeface="Times New Roman"/>
                <a:ea typeface="Times New Roman"/>
                <a:cs typeface="Times New Roman"/>
                <a:sym typeface="Times New Roman"/>
              </a:rPr>
              <a:t>Finally, the operator ( </a:t>
            </a:r>
            <a:r>
              <a:rPr b="0" i="0" lang="en-IN" sz="1800">
                <a:solidFill>
                  <a:srgbClr val="777777"/>
                </a:solidFill>
                <a:latin typeface="Times New Roman"/>
                <a:ea typeface="Times New Roman"/>
                <a:cs typeface="Times New Roman"/>
                <a:sym typeface="Times New Roman"/>
              </a:rPr>
              <a:t>* )</a:t>
            </a:r>
            <a:r>
              <a:rPr b="0" i="0" lang="en-IN" sz="1800">
                <a:solidFill>
                  <a:srgbClr val="2F3235"/>
                </a:solidFill>
                <a:latin typeface="Times New Roman"/>
                <a:ea typeface="Times New Roman"/>
                <a:cs typeface="Times New Roman"/>
                <a:sym typeface="Times New Roman"/>
              </a:rPr>
              <a:t> </a:t>
            </a:r>
            <a:r>
              <a:rPr b="0" i="0" lang="en-IN" sz="1800">
                <a:solidFill>
                  <a:schemeClr val="dk1"/>
                </a:solidFill>
                <a:latin typeface="Times New Roman"/>
                <a:ea typeface="Times New Roman"/>
                <a:cs typeface="Times New Roman"/>
                <a:sym typeface="Times New Roman"/>
              </a:rPr>
              <a:t>is read, so we pop </a:t>
            </a:r>
            <a:r>
              <a:rPr b="0" i="0" lang="en-IN" sz="1800">
                <a:solidFill>
                  <a:srgbClr val="2F3235"/>
                </a:solidFill>
                <a:latin typeface="Times New Roman"/>
                <a:ea typeface="Times New Roman"/>
                <a:cs typeface="Times New Roman"/>
                <a:sym typeface="Times New Roman"/>
              </a:rPr>
              <a:t>c </a:t>
            </a:r>
            <a:endParaRPr b="0" i="0" sz="1800">
              <a:solidFill>
                <a:srgbClr val="333333"/>
              </a:solidFill>
              <a:latin typeface="Times New Roman"/>
              <a:ea typeface="Times New Roman"/>
              <a:cs typeface="Times New Roman"/>
              <a:sym typeface="Times New Roman"/>
            </a:endParaRPr>
          </a:p>
          <a:p>
            <a:pPr indent="0" lvl="0" marL="0" marR="0" rtl="0" algn="l">
              <a:spcBef>
                <a:spcPts val="0"/>
              </a:spcBef>
              <a:spcAft>
                <a:spcPts val="0"/>
              </a:spcAft>
              <a:buNone/>
            </a:pPr>
            <a:r>
              <a:rPr b="0" i="0" lang="en-IN" sz="1800">
                <a:solidFill>
                  <a:schemeClr val="dk1"/>
                </a:solidFill>
                <a:latin typeface="Times New Roman"/>
                <a:ea typeface="Times New Roman"/>
                <a:cs typeface="Times New Roman"/>
                <a:sym typeface="Times New Roman"/>
              </a:rPr>
              <a:t> and ( </a:t>
            </a:r>
            <a:r>
              <a:rPr b="0" i="0" lang="en-IN" sz="1800">
                <a:solidFill>
                  <a:srgbClr val="2F3235"/>
                </a:solidFill>
                <a:latin typeface="Times New Roman"/>
                <a:ea typeface="Times New Roman"/>
                <a:cs typeface="Times New Roman"/>
                <a:sym typeface="Times New Roman"/>
              </a:rPr>
              <a:t>- ) </a:t>
            </a:r>
            <a:r>
              <a:rPr b="0" i="0" lang="en-IN" sz="1800">
                <a:solidFill>
                  <a:schemeClr val="dk1"/>
                </a:solidFill>
                <a:latin typeface="Times New Roman"/>
                <a:ea typeface="Times New Roman"/>
                <a:cs typeface="Times New Roman"/>
                <a:sym typeface="Times New Roman"/>
              </a:rPr>
              <a:t>from the stack and add it as the child of node </a:t>
            </a:r>
            <a:r>
              <a:rPr b="0" i="0" lang="en-IN" sz="1800">
                <a:solidFill>
                  <a:srgbClr val="777777"/>
                </a:solidFill>
                <a:latin typeface="Times New Roman"/>
                <a:ea typeface="Times New Roman"/>
                <a:cs typeface="Times New Roman"/>
                <a:sym typeface="Times New Roman"/>
              </a:rPr>
              <a:t>*</a:t>
            </a:r>
            <a:endParaRPr/>
          </a:p>
          <a:p>
            <a:pPr indent="0" lvl="0" marL="0" marR="0" rtl="0" algn="l">
              <a:spcBef>
                <a:spcPts val="0"/>
              </a:spcBef>
              <a:spcAft>
                <a:spcPts val="0"/>
              </a:spcAft>
              <a:buNone/>
            </a:pPr>
            <a:r>
              <a:t/>
            </a:r>
            <a:endParaRPr sz="1800">
              <a:solidFill>
                <a:srgbClr val="777777"/>
              </a:solidFill>
              <a:latin typeface="Times New Roman"/>
              <a:ea typeface="Times New Roman"/>
              <a:cs typeface="Times New Roman"/>
              <a:sym typeface="Times New Roman"/>
            </a:endParaRPr>
          </a:p>
          <a:p>
            <a:pPr indent="0" lvl="0" marL="0" marR="0" rtl="0" algn="l">
              <a:spcBef>
                <a:spcPts val="0"/>
              </a:spcBef>
              <a:spcAft>
                <a:spcPts val="0"/>
              </a:spcAft>
              <a:buNone/>
            </a:pPr>
            <a:r>
              <a:rPr b="0" i="0" lang="en-IN" sz="1800">
                <a:solidFill>
                  <a:srgbClr val="2F3235"/>
                </a:solidFill>
                <a:latin typeface="Times New Roman"/>
                <a:ea typeface="Times New Roman"/>
                <a:cs typeface="Times New Roman"/>
                <a:sym typeface="Times New Roman"/>
              </a:rPr>
              <a:t> </a:t>
            </a:r>
            <a:endParaRPr b="0" i="0" sz="1800">
              <a:solidFill>
                <a:srgbClr val="333333"/>
              </a:solidFill>
              <a:latin typeface="Times New Roman"/>
              <a:ea typeface="Times New Roman"/>
              <a:cs typeface="Times New Roman"/>
              <a:sym typeface="Times New Roman"/>
            </a:endParaRPr>
          </a:p>
          <a:p>
            <a:pPr indent="0" lvl="0" marL="0" marR="0" rtl="0" algn="l">
              <a:spcBef>
                <a:spcPts val="0"/>
              </a:spcBef>
              <a:spcAft>
                <a:spcPts val="0"/>
              </a:spcAft>
              <a:buNone/>
            </a:pPr>
            <a:r>
              <a:rPr b="0" i="0"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pic>
        <p:nvPicPr>
          <p:cNvPr descr="expression tree creation example 4" id="10474" name="Google Shape;10474;p29"/>
          <p:cNvPicPr preferRelativeResize="0"/>
          <p:nvPr/>
        </p:nvPicPr>
        <p:blipFill rotWithShape="1">
          <a:blip r:embed="rId5">
            <a:alphaModFix/>
          </a:blip>
          <a:srcRect b="0" l="0" r="0" t="0"/>
          <a:stretch/>
        </p:blipFill>
        <p:spPr>
          <a:xfrm>
            <a:off x="6569153" y="2529045"/>
            <a:ext cx="4019550" cy="2276475"/>
          </a:xfrm>
          <a:prstGeom prst="rect">
            <a:avLst/>
          </a:prstGeom>
          <a:noFill/>
          <a:ln>
            <a:noFill/>
          </a:ln>
        </p:spPr>
      </p:pic>
    </p:spTree>
  </p:cSld>
  <p:clrMapOvr>
    <a:masterClrMapping/>
  </p:clrMapOvr>
  <p:transition spd="slow" p14:dur="1600">
    <p:blinds dir="ver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8" name="Shape 10478"/>
        <p:cNvGrpSpPr/>
        <p:nvPr/>
      </p:nvGrpSpPr>
      <p:grpSpPr>
        <a:xfrm>
          <a:off x="0" y="0"/>
          <a:ext cx="0" cy="0"/>
          <a:chOff x="0" y="0"/>
          <a:chExt cx="0" cy="0"/>
        </a:xfrm>
      </p:grpSpPr>
      <p:sp>
        <p:nvSpPr>
          <p:cNvPr id="10479" name="Google Shape;10479;p30"/>
          <p:cNvSpPr/>
          <p:nvPr/>
        </p:nvSpPr>
        <p:spPr>
          <a:xfrm>
            <a:off x="1396546" y="157872"/>
            <a:ext cx="9147900" cy="7215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2400">
                <a:solidFill>
                  <a:schemeClr val="lt1"/>
                </a:solidFill>
                <a:latin typeface="Times New Roman"/>
                <a:ea typeface="Times New Roman"/>
                <a:cs typeface="Times New Roman"/>
                <a:sym typeface="Times New Roman"/>
              </a:rPr>
              <a:t>IMPORTANT FACTS RELATED TO THE SESSION</a:t>
            </a:r>
            <a:endParaRPr/>
          </a:p>
        </p:txBody>
      </p:sp>
      <p:sp>
        <p:nvSpPr>
          <p:cNvPr id="10480" name="Google Shape;10480;p30"/>
          <p:cNvSpPr txBox="1"/>
          <p:nvPr/>
        </p:nvSpPr>
        <p:spPr>
          <a:xfrm>
            <a:off x="1397000" y="1252025"/>
            <a:ext cx="10011900" cy="5201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400">
                <a:solidFill>
                  <a:schemeClr val="dk1"/>
                </a:solidFill>
                <a:latin typeface="Times New Roman"/>
                <a:ea typeface="Times New Roman"/>
                <a:cs typeface="Times New Roman"/>
                <a:sym typeface="Times New Roman"/>
              </a:rPr>
              <a:t>Advantages of a Binary Trees </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Binary trees are conceptually simple and easy to implement.</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Binary trees provide efficient search and retrieval operations. </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Traversing a binary tree is a well-defined process, and various algorithms (in-order, pre-order, post-order) allow for easy navigation and processing of all elements in the tree. </a:t>
            </a:r>
            <a:endParaRPr/>
          </a:p>
          <a:p>
            <a:pPr indent="0" lvl="0" marL="0" marR="0" rtl="0" algn="l">
              <a:spcBef>
                <a:spcPts val="0"/>
              </a:spcBef>
              <a:spcAft>
                <a:spcPts val="0"/>
              </a:spcAft>
              <a:buNone/>
            </a:pPr>
            <a:r>
              <a:rPr b="1" lang="en-IN" sz="2400">
                <a:solidFill>
                  <a:schemeClr val="dk1"/>
                </a:solidFill>
                <a:latin typeface="Times New Roman"/>
                <a:ea typeface="Times New Roman"/>
                <a:cs typeface="Times New Roman"/>
                <a:sym typeface="Times New Roman"/>
              </a:rPr>
              <a:t>Disadvantages of </a:t>
            </a:r>
            <a:r>
              <a:rPr b="1" i="0" lang="en-IN" sz="2400">
                <a:solidFill>
                  <a:schemeClr val="dk1"/>
                </a:solidFill>
                <a:latin typeface="Times New Roman"/>
                <a:ea typeface="Times New Roman"/>
                <a:cs typeface="Times New Roman"/>
                <a:sym typeface="Times New Roman"/>
              </a:rPr>
              <a:t>Binary Trees </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Binary trees can have higher memory overhead compared to other data structures. </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Although binary trees are conceptually simple, ensuring proper balance and implementing self-balancing mechanisms can add complexity to the code.</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The performance of a binary search tree can be sensitive to the order in which elements are inserted.</a:t>
            </a:r>
            <a:endParaRPr/>
          </a:p>
          <a:p>
            <a:pPr indent="0" lvl="0" marL="0" marR="0" rtl="0" algn="l">
              <a:spcBef>
                <a:spcPts val="0"/>
              </a:spcBef>
              <a:spcAft>
                <a:spcPts val="0"/>
              </a:spcAft>
              <a:buNone/>
            </a:pPr>
            <a:r>
              <a:rPr b="1" lang="en-IN" sz="2400">
                <a:solidFill>
                  <a:schemeClr val="dk1"/>
                </a:solidFill>
                <a:latin typeface="Times New Roman"/>
                <a:ea typeface="Times New Roman"/>
                <a:cs typeface="Times New Roman"/>
                <a:sym typeface="Times New Roman"/>
              </a:rPr>
              <a:t>Applications/Uses of </a:t>
            </a:r>
            <a:r>
              <a:rPr b="1" i="0" lang="en-IN" sz="2400">
                <a:solidFill>
                  <a:schemeClr val="dk1"/>
                </a:solidFill>
                <a:latin typeface="Times New Roman"/>
                <a:ea typeface="Times New Roman"/>
                <a:cs typeface="Times New Roman"/>
                <a:sym typeface="Times New Roman"/>
              </a:rPr>
              <a:t>Binary Trees </a:t>
            </a:r>
            <a:r>
              <a:rPr b="1" lang="en-IN" sz="2400">
                <a:solidFill>
                  <a:schemeClr val="dk1"/>
                </a:solidFill>
                <a:latin typeface="Times New Roman"/>
                <a:ea typeface="Times New Roman"/>
                <a:cs typeface="Times New Roman"/>
                <a:sym typeface="Times New Roman"/>
              </a:rPr>
              <a:t>in real life</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File systems in computers often use binary trees to represent the hierarchical structure of directories and file.</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Binary trees can represent organizational hierarchies in business structures</a:t>
            </a:r>
            <a:endParaRPr/>
          </a:p>
          <a:p>
            <a:pPr indent="-342900" lvl="0" marL="342900" marR="0" rtl="0" algn="l">
              <a:spcBef>
                <a:spcPts val="0"/>
              </a:spcBef>
              <a:spcAft>
                <a:spcPts val="0"/>
              </a:spcAft>
              <a:buClr>
                <a:schemeClr val="dk1"/>
              </a:buClr>
              <a:buSzPts val="2000"/>
              <a:buFont typeface="Arial"/>
              <a:buChar char="•"/>
            </a:pPr>
            <a:r>
              <a:rPr b="0" i="0" lang="en-IN" sz="2000">
                <a:solidFill>
                  <a:schemeClr val="dk1"/>
                </a:solidFill>
                <a:latin typeface="Times New Roman"/>
                <a:ea typeface="Times New Roman"/>
                <a:cs typeface="Times New Roman"/>
                <a:sym typeface="Times New Roman"/>
              </a:rPr>
              <a:t>Binary trees are used to represent mathematical expressions in compilers and evaluators</a:t>
            </a:r>
            <a:endParaRPr sz="2000">
              <a:solidFill>
                <a:schemeClr val="dk1"/>
              </a:solidFill>
              <a:latin typeface="Times New Roman"/>
              <a:ea typeface="Times New Roman"/>
              <a:cs typeface="Times New Roman"/>
              <a:sym typeface="Times New Roman"/>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79"/>
                                        </p:tgtEl>
                                        <p:attrNameLst>
                                          <p:attrName>style.visibility</p:attrName>
                                        </p:attrNameLst>
                                      </p:cBhvr>
                                      <p:to>
                                        <p:strVal val="visible"/>
                                      </p:to>
                                    </p:set>
                                    <p:animEffect filter="fade" transition="in">
                                      <p:cBhvr>
                                        <p:cTn dur="500"/>
                                        <p:tgtEl>
                                          <p:spTgt spid="10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4" name="Shape 10484"/>
        <p:cNvGrpSpPr/>
        <p:nvPr/>
      </p:nvGrpSpPr>
      <p:grpSpPr>
        <a:xfrm>
          <a:off x="0" y="0"/>
          <a:ext cx="0" cy="0"/>
          <a:chOff x="0" y="0"/>
          <a:chExt cx="0" cy="0"/>
        </a:xfrm>
      </p:grpSpPr>
      <p:pic>
        <p:nvPicPr>
          <p:cNvPr descr="A red rectangular sign with white text&#10;&#10;Description automatically generated" id="10485" name="Google Shape;10485;p31"/>
          <p:cNvPicPr preferRelativeResize="0"/>
          <p:nvPr>
            <p:ph idx="1" type="body"/>
          </p:nvPr>
        </p:nvPicPr>
        <p:blipFill rotWithShape="1">
          <a:blip r:embed="rId3">
            <a:alphaModFix/>
          </a:blip>
          <a:srcRect b="0" l="0" r="0" t="0"/>
          <a:stretch/>
        </p:blipFill>
        <p:spPr>
          <a:xfrm>
            <a:off x="2051050" y="402397"/>
            <a:ext cx="6555300" cy="818100"/>
          </a:xfrm>
          <a:prstGeom prst="rect">
            <a:avLst/>
          </a:prstGeom>
          <a:noFill/>
          <a:ln>
            <a:noFill/>
          </a:ln>
        </p:spPr>
      </p:pic>
      <p:sp>
        <p:nvSpPr>
          <p:cNvPr id="10486" name="Google Shape;10486;p31"/>
          <p:cNvSpPr txBox="1"/>
          <p:nvPr/>
        </p:nvSpPr>
        <p:spPr>
          <a:xfrm>
            <a:off x="521110" y="1565787"/>
            <a:ext cx="11370900" cy="4216500"/>
          </a:xfrm>
          <a:prstGeom prst="rect">
            <a:avLst/>
          </a:prstGeom>
          <a:noFill/>
          <a:ln>
            <a:noFill/>
          </a:ln>
        </p:spPr>
        <p:txBody>
          <a:bodyPr anchorCtr="0" anchor="t" bIns="45700" lIns="91425" spcFirstLastPara="1" rIns="91425" wrap="square" tIns="45700">
            <a:spAutoFit/>
          </a:bodyPr>
          <a:lstStyle/>
          <a:p>
            <a:pPr indent="-177800" lvl="0" marL="0" marR="0" rtl="0" algn="l">
              <a:spcBef>
                <a:spcPts val="0"/>
              </a:spcBef>
              <a:spcAft>
                <a:spcPts val="0"/>
              </a:spcAft>
              <a:buClr>
                <a:schemeClr val="dk1"/>
              </a:buClr>
              <a:buSzPts val="2800"/>
              <a:buFont typeface="Times New Roman"/>
              <a:buAutoNum type="arabicPeriod"/>
            </a:pPr>
            <a:r>
              <a:rPr lang="en-IN" sz="2800">
                <a:solidFill>
                  <a:schemeClr val="dk1"/>
                </a:solidFill>
                <a:latin typeface="Times New Roman"/>
                <a:ea typeface="Times New Roman"/>
                <a:cs typeface="Times New Roman"/>
                <a:sym typeface="Times New Roman"/>
              </a:rPr>
              <a:t>Write Inorder, Preorder, Post Order to below tree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IN" sz="2800">
                <a:solidFill>
                  <a:schemeClr val="dk1"/>
                </a:solidFill>
                <a:latin typeface="Times New Roman"/>
                <a:ea typeface="Times New Roman"/>
                <a:cs typeface="Times New Roman"/>
                <a:sym typeface="Times New Roman"/>
              </a:rPr>
              <a:t>2. Draw an Expression Tree to A * B + C / D.</a:t>
            </a:r>
            <a:endParaRPr sz="1800">
              <a:solidFill>
                <a:schemeClr val="dk1"/>
              </a:solidFill>
              <a:latin typeface="Calibri"/>
              <a:ea typeface="Calibri"/>
              <a:cs typeface="Calibri"/>
              <a:sym typeface="Calibri"/>
            </a:endParaRPr>
          </a:p>
        </p:txBody>
      </p:sp>
      <p:pic>
        <p:nvPicPr>
          <p:cNvPr descr="A diagram of a diagram&#10;&#10;Description automatically generated" id="10487" name="Google Shape;10487;p31"/>
          <p:cNvPicPr preferRelativeResize="0"/>
          <p:nvPr/>
        </p:nvPicPr>
        <p:blipFill rotWithShape="1">
          <a:blip r:embed="rId4">
            <a:alphaModFix/>
          </a:blip>
          <a:srcRect b="0" l="0" r="0" t="0"/>
          <a:stretch/>
        </p:blipFill>
        <p:spPr>
          <a:xfrm>
            <a:off x="1196061" y="2177556"/>
            <a:ext cx="4219575" cy="2752725"/>
          </a:xfrm>
          <a:prstGeom prst="rect">
            <a:avLst/>
          </a:prstGeom>
          <a:noFill/>
          <a:ln>
            <a:noFill/>
          </a:ln>
        </p:spPr>
      </p:pic>
      <p:pic>
        <p:nvPicPr>
          <p:cNvPr id="10488" name="Google Shape;10488;p31"/>
          <p:cNvPicPr preferRelativeResize="0"/>
          <p:nvPr/>
        </p:nvPicPr>
        <p:blipFill rotWithShape="1">
          <a:blip r:embed="rId5">
            <a:alphaModFix/>
          </a:blip>
          <a:srcRect b="0" l="0" r="0" t="0"/>
          <a:stretch/>
        </p:blipFill>
        <p:spPr>
          <a:xfrm>
            <a:off x="5526005" y="2199930"/>
            <a:ext cx="6665995" cy="245813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8"/>
                                        </p:tgtEl>
                                        <p:attrNameLst>
                                          <p:attrName>style.visibility</p:attrName>
                                        </p:attrNameLst>
                                      </p:cBhvr>
                                      <p:to>
                                        <p:strVal val="visible"/>
                                      </p:to>
                                    </p:set>
                                    <p:animEffect filter="fade" transition="in">
                                      <p:cBhvr>
                                        <p:cTn dur="1000"/>
                                        <p:tgtEl>
                                          <p:spTgt spid="10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2" name="Shape 10492"/>
        <p:cNvGrpSpPr/>
        <p:nvPr/>
      </p:nvGrpSpPr>
      <p:grpSpPr>
        <a:xfrm>
          <a:off x="0" y="0"/>
          <a:ext cx="0" cy="0"/>
          <a:chOff x="0" y="0"/>
          <a:chExt cx="0" cy="0"/>
        </a:xfrm>
      </p:grpSpPr>
      <p:sp>
        <p:nvSpPr>
          <p:cNvPr id="10493" name="Google Shape;10493;p32"/>
          <p:cNvSpPr/>
          <p:nvPr/>
        </p:nvSpPr>
        <p:spPr>
          <a:xfrm>
            <a:off x="2790158" y="179658"/>
            <a:ext cx="5663400" cy="5601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2400">
                <a:solidFill>
                  <a:schemeClr val="lt1"/>
                </a:solidFill>
                <a:latin typeface="Times New Roman"/>
                <a:ea typeface="Times New Roman"/>
                <a:cs typeface="Times New Roman"/>
                <a:sym typeface="Times New Roman"/>
              </a:rPr>
              <a:t>SUMMARY</a:t>
            </a:r>
            <a:endParaRPr/>
          </a:p>
        </p:txBody>
      </p:sp>
      <p:sp>
        <p:nvSpPr>
          <p:cNvPr id="10494" name="Google Shape;10494;p32"/>
          <p:cNvSpPr txBox="1"/>
          <p:nvPr/>
        </p:nvSpPr>
        <p:spPr>
          <a:xfrm>
            <a:off x="846666" y="848264"/>
            <a:ext cx="10682700" cy="56322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Tree data structure is a collection of data (Node) which is organized in hierarchical structure recursively</a:t>
            </a:r>
            <a:endParaRPr/>
          </a:p>
          <a:p>
            <a:pPr indent="-285750" lvl="0" marL="285750" marR="0" rtl="0" algn="l">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A tree in which every node can have a maximum of two children is called Binary Tree.</a:t>
            </a:r>
            <a:endParaRPr/>
          </a:p>
          <a:p>
            <a:pPr indent="-285750" lvl="0" marL="285750" marR="0" rtl="0" algn="l">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Several terminologies are used in tree like follows..</a:t>
            </a:r>
            <a:endParaRPr/>
          </a:p>
          <a:p>
            <a:pPr indent="0" lvl="0" marL="0" marR="0" rtl="0" algn="l">
              <a:spcBef>
                <a:spcPts val="0"/>
              </a:spcBef>
              <a:spcAft>
                <a:spcPts val="0"/>
              </a:spcAft>
              <a:buNone/>
            </a:pPr>
            <a:r>
              <a:rPr lang="en-IN" sz="2400">
                <a:solidFill>
                  <a:schemeClr val="dk1"/>
                </a:solidFill>
                <a:latin typeface="Times New Roman"/>
                <a:ea typeface="Times New Roman"/>
                <a:cs typeface="Times New Roman"/>
                <a:sym typeface="Times New Roman"/>
              </a:rPr>
              <a:t>     root, parent, child, height, level, deapth and subtree etc….</a:t>
            </a:r>
            <a:endParaRPr/>
          </a:p>
          <a:p>
            <a:pPr indent="-285750" lvl="0" marL="285750" marR="0" rtl="0" algn="l">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In a Binary tree, we perform the following traversals</a:t>
            </a:r>
            <a:endParaRPr/>
          </a:p>
          <a:p>
            <a:pPr indent="0" lvl="0" marL="0" marR="0" rtl="0" algn="l">
              <a:spcBef>
                <a:spcPts val="0"/>
              </a:spcBef>
              <a:spcAft>
                <a:spcPts val="0"/>
              </a:spcAft>
              <a:buNone/>
            </a:pPr>
            <a:r>
              <a:rPr lang="en-IN" sz="2400">
                <a:solidFill>
                  <a:schemeClr val="dk1"/>
                </a:solidFill>
                <a:latin typeface="Times New Roman"/>
                <a:ea typeface="Times New Roman"/>
                <a:cs typeface="Times New Roman"/>
                <a:sym typeface="Times New Roman"/>
              </a:rPr>
              <a:t>      i) Inorder	ii)  Preorder	iii)  post order	 </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An expression tree is a special type of binary tree that is used to store algebraic expressions. In an expression tree, each internal node corresponds to the operator and each leaf node corresponds to the operand.</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Advantages, Disadvantages and Applications/Uses of Binary Trees in real life.</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3"/>
                                        </p:tgtEl>
                                        <p:attrNameLst>
                                          <p:attrName>style.visibility</p:attrName>
                                        </p:attrNameLst>
                                      </p:cBhvr>
                                      <p:to>
                                        <p:strVal val="visible"/>
                                      </p:to>
                                    </p:set>
                                    <p:animEffect filter="fade" transition="in">
                                      <p:cBhvr>
                                        <p:cTn dur="500"/>
                                        <p:tgtEl>
                                          <p:spTgt spid="10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9" name="Shape 10499"/>
        <p:cNvGrpSpPr/>
        <p:nvPr/>
      </p:nvGrpSpPr>
      <p:grpSpPr>
        <a:xfrm>
          <a:off x="0" y="0"/>
          <a:ext cx="0" cy="0"/>
          <a:chOff x="0" y="0"/>
          <a:chExt cx="0" cy="0"/>
        </a:xfrm>
      </p:grpSpPr>
      <p:sp>
        <p:nvSpPr>
          <p:cNvPr id="10500" name="Google Shape;10500;p33"/>
          <p:cNvSpPr/>
          <p:nvPr/>
        </p:nvSpPr>
        <p:spPr>
          <a:xfrm>
            <a:off x="3390636" y="94783"/>
            <a:ext cx="5410800" cy="4122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2400">
                <a:solidFill>
                  <a:schemeClr val="lt1"/>
                </a:solidFill>
                <a:latin typeface="Times New Roman"/>
                <a:ea typeface="Times New Roman"/>
                <a:cs typeface="Times New Roman"/>
                <a:sym typeface="Times New Roman"/>
              </a:rPr>
              <a:t>SELF-ASSESSMENT QUESTIONS</a:t>
            </a:r>
            <a:endParaRPr/>
          </a:p>
        </p:txBody>
      </p:sp>
      <p:sp>
        <p:nvSpPr>
          <p:cNvPr id="10501" name="Google Shape;10501;p33"/>
          <p:cNvSpPr/>
          <p:nvPr/>
        </p:nvSpPr>
        <p:spPr>
          <a:xfrm>
            <a:off x="1009895" y="1093156"/>
            <a:ext cx="10172100" cy="710100"/>
          </a:xfrm>
          <a:prstGeom prst="roundRect">
            <a:avLst>
              <a:gd fmla="val 35613" name="adj"/>
            </a:avLst>
          </a:prstGeom>
          <a:solidFill>
            <a:srgbClr val="E84845"/>
          </a:solidFill>
          <a:ln>
            <a:noFill/>
          </a:ln>
          <a:effectLst>
            <a:outerShdw blurRad="190500" sx="102000" rotWithShape="0" algn="ctr" sy="102000">
              <a:srgbClr val="000000">
                <a:alpha val="243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IN" sz="2400">
                <a:solidFill>
                  <a:schemeClr val="dk1"/>
                </a:solidFill>
                <a:latin typeface="Times New Roman"/>
                <a:ea typeface="Times New Roman"/>
                <a:cs typeface="Times New Roman"/>
                <a:sym typeface="Times New Roman"/>
              </a:rPr>
              <a:t>What is a tree in data structures?</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0502" name="Google Shape;10502;p33"/>
          <p:cNvSpPr/>
          <p:nvPr/>
        </p:nvSpPr>
        <p:spPr>
          <a:xfrm>
            <a:off x="1026828" y="1888177"/>
            <a:ext cx="6430800" cy="1735500"/>
          </a:xfrm>
          <a:prstGeom prst="roundRect">
            <a:avLst>
              <a:gd fmla="val 16667" name="adj"/>
            </a:avLst>
          </a:prstGeom>
          <a:gradFill>
            <a:gsLst>
              <a:gs pos="0">
                <a:srgbClr val="3864B2"/>
              </a:gs>
              <a:gs pos="23000">
                <a:srgbClr val="3864B2"/>
              </a:gs>
              <a:gs pos="69000">
                <a:srgbClr val="2F5496"/>
              </a:gs>
              <a:gs pos="97000">
                <a:srgbClr val="2C4E8C"/>
              </a:gs>
              <a:gs pos="100000">
                <a:srgbClr val="2C4E8C"/>
              </a:gs>
            </a:gsLst>
            <a:path path="circle">
              <a:fillToRect b="50%" l="50%" r="50%" t="50%"/>
            </a:path>
            <a:tileRect/>
          </a:gra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IN" sz="1800">
                <a:solidFill>
                  <a:schemeClr val="lt1"/>
                </a:solidFill>
                <a:latin typeface="Times New Roman"/>
                <a:ea typeface="Times New Roman"/>
                <a:cs typeface="Times New Roman"/>
                <a:sym typeface="Times New Roman"/>
              </a:rPr>
              <a:t>a. A hierarchical data structure</a:t>
            </a:r>
            <a:endParaRPr/>
          </a:p>
          <a:p>
            <a:pPr indent="0" lvl="0" marL="0" marR="0" rtl="0" algn="l">
              <a:lnSpc>
                <a:spcPct val="150000"/>
              </a:lnSpc>
              <a:spcBef>
                <a:spcPts val="0"/>
              </a:spcBef>
              <a:spcAft>
                <a:spcPts val="0"/>
              </a:spcAft>
              <a:buNone/>
            </a:pPr>
            <a:r>
              <a:rPr lang="en-IN" sz="1800">
                <a:solidFill>
                  <a:schemeClr val="lt1"/>
                </a:solidFill>
                <a:latin typeface="Times New Roman"/>
                <a:ea typeface="Times New Roman"/>
                <a:cs typeface="Times New Roman"/>
                <a:sym typeface="Times New Roman"/>
              </a:rPr>
              <a:t>b. A linear data structure</a:t>
            </a:r>
            <a:endParaRPr/>
          </a:p>
          <a:p>
            <a:pPr indent="0" lvl="0" marL="0" marR="0" rtl="0" algn="l">
              <a:lnSpc>
                <a:spcPct val="150000"/>
              </a:lnSpc>
              <a:spcBef>
                <a:spcPts val="0"/>
              </a:spcBef>
              <a:spcAft>
                <a:spcPts val="0"/>
              </a:spcAft>
              <a:buNone/>
            </a:pPr>
            <a:r>
              <a:rPr lang="en-IN" sz="1800">
                <a:solidFill>
                  <a:schemeClr val="lt1"/>
                </a:solidFill>
                <a:latin typeface="Times New Roman"/>
                <a:ea typeface="Times New Roman"/>
                <a:cs typeface="Times New Roman"/>
                <a:sym typeface="Times New Roman"/>
              </a:rPr>
              <a:t>c. A non-linear data structure</a:t>
            </a:r>
            <a:endParaRPr/>
          </a:p>
          <a:p>
            <a:pPr indent="0" lvl="0" marL="0" marR="0" rtl="0" algn="l">
              <a:lnSpc>
                <a:spcPct val="150000"/>
              </a:lnSpc>
              <a:spcBef>
                <a:spcPts val="0"/>
              </a:spcBef>
              <a:spcAft>
                <a:spcPts val="0"/>
              </a:spcAft>
              <a:buNone/>
            </a:pPr>
            <a:r>
              <a:rPr lang="en-IN" sz="1800">
                <a:solidFill>
                  <a:schemeClr val="lt1"/>
                </a:solidFill>
                <a:latin typeface="Times New Roman"/>
                <a:ea typeface="Times New Roman"/>
                <a:cs typeface="Times New Roman"/>
                <a:sym typeface="Times New Roman"/>
              </a:rPr>
              <a:t>d. A sequential data structure</a:t>
            </a:r>
            <a:br>
              <a:rPr lang="en-IN" sz="1800">
                <a:solidFill>
                  <a:schemeClr val="lt1"/>
                </a:solidFill>
                <a:latin typeface="Times New Roman"/>
                <a:ea typeface="Times New Roman"/>
                <a:cs typeface="Times New Roman"/>
                <a:sym typeface="Times New Roman"/>
              </a:rPr>
            </a:br>
            <a:endParaRPr sz="1800">
              <a:solidFill>
                <a:schemeClr val="lt1"/>
              </a:solidFill>
              <a:latin typeface="Times New Roman"/>
              <a:ea typeface="Times New Roman"/>
              <a:cs typeface="Times New Roman"/>
              <a:sym typeface="Times New Roman"/>
            </a:endParaRPr>
          </a:p>
        </p:txBody>
      </p:sp>
      <p:sp>
        <p:nvSpPr>
          <p:cNvPr id="10503" name="Google Shape;10503;p33"/>
          <p:cNvSpPr/>
          <p:nvPr/>
        </p:nvSpPr>
        <p:spPr>
          <a:xfrm>
            <a:off x="1009895" y="3820343"/>
            <a:ext cx="10172100" cy="710100"/>
          </a:xfrm>
          <a:prstGeom prst="roundRect">
            <a:avLst>
              <a:gd fmla="val 35613" name="adj"/>
            </a:avLst>
          </a:prstGeom>
          <a:solidFill>
            <a:srgbClr val="E84845"/>
          </a:solidFill>
          <a:ln>
            <a:noFill/>
          </a:ln>
          <a:effectLst>
            <a:outerShdw blurRad="190500" sx="102000" rotWithShape="0" algn="ctr" sy="102000">
              <a:srgbClr val="000000">
                <a:alpha val="2431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IN" sz="2400">
                <a:solidFill>
                  <a:schemeClr val="dk1"/>
                </a:solidFill>
                <a:latin typeface="Times New Roman"/>
                <a:ea typeface="Times New Roman"/>
                <a:cs typeface="Times New Roman"/>
                <a:sym typeface="Times New Roman"/>
              </a:rPr>
              <a:t>In a binary tree, each node has at most how many children?</a:t>
            </a:r>
            <a:br>
              <a:rPr lang="en-I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10504" name="Google Shape;10504;p33"/>
          <p:cNvSpPr/>
          <p:nvPr/>
        </p:nvSpPr>
        <p:spPr>
          <a:xfrm>
            <a:off x="1009895" y="4727197"/>
            <a:ext cx="7791600" cy="1645800"/>
          </a:xfrm>
          <a:prstGeom prst="roundRect">
            <a:avLst>
              <a:gd fmla="val 16667" name="adj"/>
            </a:avLst>
          </a:prstGeom>
          <a:gradFill>
            <a:gsLst>
              <a:gs pos="0">
                <a:srgbClr val="3864B2"/>
              </a:gs>
              <a:gs pos="23000">
                <a:srgbClr val="3864B2"/>
              </a:gs>
              <a:gs pos="69000">
                <a:srgbClr val="2F5496"/>
              </a:gs>
              <a:gs pos="97000">
                <a:srgbClr val="2C4E8C"/>
              </a:gs>
              <a:gs pos="100000">
                <a:srgbClr val="2C4E8C"/>
              </a:gs>
            </a:gsLst>
            <a:path path="circle">
              <a:fillToRect b="50%" l="50%" r="50%" t="50%"/>
            </a:path>
            <a:tileRect/>
          </a:gra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Times New Roman"/>
                <a:ea typeface="Times New Roman"/>
                <a:cs typeface="Times New Roman"/>
                <a:sym typeface="Times New Roman"/>
              </a:rPr>
              <a:t>a. 1</a:t>
            </a:r>
            <a:endParaRPr/>
          </a:p>
          <a:p>
            <a:pPr indent="0" lvl="0" marL="0" marR="0" rtl="0" algn="l">
              <a:spcBef>
                <a:spcPts val="0"/>
              </a:spcBef>
              <a:spcAft>
                <a:spcPts val="0"/>
              </a:spcAft>
              <a:buNone/>
            </a:pPr>
            <a:r>
              <a:rPr lang="en-IN" sz="1800">
                <a:solidFill>
                  <a:schemeClr val="lt1"/>
                </a:solidFill>
                <a:latin typeface="Times New Roman"/>
                <a:ea typeface="Times New Roman"/>
                <a:cs typeface="Times New Roman"/>
                <a:sym typeface="Times New Roman"/>
              </a:rPr>
              <a:t>b. 2</a:t>
            </a:r>
            <a:endParaRPr/>
          </a:p>
          <a:p>
            <a:pPr indent="0" lvl="0" marL="0" marR="0" rtl="0" algn="l">
              <a:spcBef>
                <a:spcPts val="0"/>
              </a:spcBef>
              <a:spcAft>
                <a:spcPts val="0"/>
              </a:spcAft>
              <a:buNone/>
            </a:pPr>
            <a:r>
              <a:rPr lang="en-IN" sz="1800">
                <a:solidFill>
                  <a:schemeClr val="lt1"/>
                </a:solidFill>
                <a:latin typeface="Times New Roman"/>
                <a:ea typeface="Times New Roman"/>
                <a:cs typeface="Times New Roman"/>
                <a:sym typeface="Times New Roman"/>
              </a:rPr>
              <a:t>c. 3</a:t>
            </a:r>
            <a:endParaRPr/>
          </a:p>
          <a:p>
            <a:pPr indent="0" lvl="0" marL="0" marR="0" rtl="0" algn="l">
              <a:spcBef>
                <a:spcPts val="0"/>
              </a:spcBef>
              <a:spcAft>
                <a:spcPts val="0"/>
              </a:spcAft>
              <a:buNone/>
            </a:pPr>
            <a:r>
              <a:rPr lang="en-IN" sz="1800">
                <a:solidFill>
                  <a:schemeClr val="lt1"/>
                </a:solidFill>
                <a:latin typeface="Times New Roman"/>
                <a:ea typeface="Times New Roman"/>
                <a:cs typeface="Times New Roman"/>
                <a:sym typeface="Times New Roman"/>
              </a:rPr>
              <a:t>d. 4</a:t>
            </a:r>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00"/>
                                        </p:tgtEl>
                                        <p:attrNameLst>
                                          <p:attrName>style.visibility</p:attrName>
                                        </p:attrNameLst>
                                      </p:cBhvr>
                                      <p:to>
                                        <p:strVal val="visible"/>
                                      </p:to>
                                    </p:set>
                                    <p:animEffect filter="fade" transition="in">
                                      <p:cBhvr>
                                        <p:cTn dur="500"/>
                                        <p:tgtEl>
                                          <p:spTgt spid="10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02"/>
                                        </p:tgtEl>
                                        <p:attrNameLst>
                                          <p:attrName>style.visibility</p:attrName>
                                        </p:attrNameLst>
                                      </p:cBhvr>
                                      <p:to>
                                        <p:strVal val="visible"/>
                                      </p:to>
                                    </p:set>
                                    <p:animEffect filter="fade" transition="in">
                                      <p:cBhvr>
                                        <p:cTn dur="500"/>
                                        <p:tgtEl>
                                          <p:spTgt spid="10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04"/>
                                        </p:tgtEl>
                                        <p:attrNameLst>
                                          <p:attrName>style.visibility</p:attrName>
                                        </p:attrNameLst>
                                      </p:cBhvr>
                                      <p:to>
                                        <p:strVal val="visible"/>
                                      </p:to>
                                    </p:set>
                                    <p:animEffect filter="fade" transition="in">
                                      <p:cBhvr>
                                        <p:cTn dur="500"/>
                                        <p:tgtEl>
                                          <p:spTgt spid="10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01"/>
                                        </p:tgtEl>
                                        <p:attrNameLst>
                                          <p:attrName>style.visibility</p:attrName>
                                        </p:attrNameLst>
                                      </p:cBhvr>
                                      <p:to>
                                        <p:strVal val="visible"/>
                                      </p:to>
                                    </p:set>
                                    <p:animEffect filter="fade" transition="in">
                                      <p:cBhvr>
                                        <p:cTn dur="500"/>
                                        <p:tgtEl>
                                          <p:spTgt spid="10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03"/>
                                        </p:tgtEl>
                                        <p:attrNameLst>
                                          <p:attrName>style.visibility</p:attrName>
                                        </p:attrNameLst>
                                      </p:cBhvr>
                                      <p:to>
                                        <p:strVal val="visible"/>
                                      </p:to>
                                    </p:set>
                                    <p:animEffect filter="fade" transition="in">
                                      <p:cBhvr>
                                        <p:cTn dur="500"/>
                                        <p:tgtEl>
                                          <p:spTgt spid="10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8" name="Shape 10508"/>
        <p:cNvGrpSpPr/>
        <p:nvPr/>
      </p:nvGrpSpPr>
      <p:grpSpPr>
        <a:xfrm>
          <a:off x="0" y="0"/>
          <a:ext cx="0" cy="0"/>
          <a:chOff x="0" y="0"/>
          <a:chExt cx="0" cy="0"/>
        </a:xfrm>
      </p:grpSpPr>
      <p:sp>
        <p:nvSpPr>
          <p:cNvPr id="10509" name="Google Shape;10509;p34"/>
          <p:cNvSpPr/>
          <p:nvPr/>
        </p:nvSpPr>
        <p:spPr>
          <a:xfrm>
            <a:off x="3390636" y="94783"/>
            <a:ext cx="5410800" cy="4122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2400">
                <a:solidFill>
                  <a:schemeClr val="lt1"/>
                </a:solidFill>
                <a:latin typeface="Times New Roman"/>
                <a:ea typeface="Times New Roman"/>
                <a:cs typeface="Times New Roman"/>
                <a:sym typeface="Times New Roman"/>
              </a:rPr>
              <a:t>TERMINAL QUESTIONS</a:t>
            </a:r>
            <a:endParaRPr/>
          </a:p>
        </p:txBody>
      </p:sp>
      <p:sp>
        <p:nvSpPr>
          <p:cNvPr id="10510" name="Google Shape;10510;p34"/>
          <p:cNvSpPr txBox="1"/>
          <p:nvPr/>
        </p:nvSpPr>
        <p:spPr>
          <a:xfrm>
            <a:off x="900332" y="1167618"/>
            <a:ext cx="9608100" cy="27846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1" lang="en-IN" sz="1800">
                <a:solidFill>
                  <a:schemeClr val="dk1"/>
                </a:solidFill>
                <a:latin typeface="Times New Roman"/>
                <a:ea typeface="Times New Roman"/>
                <a:cs typeface="Times New Roman"/>
                <a:sym typeface="Times New Roman"/>
              </a:rPr>
              <a:t>1. Define Binary Tree?</a:t>
            </a:r>
            <a:endParaRPr/>
          </a:p>
          <a:p>
            <a:pPr indent="0" lvl="0" marL="0" marR="0" rtl="0" algn="l">
              <a:lnSpc>
                <a:spcPct val="200000"/>
              </a:lnSpc>
              <a:spcBef>
                <a:spcPts val="0"/>
              </a:spcBef>
              <a:spcAft>
                <a:spcPts val="0"/>
              </a:spcAft>
              <a:buNone/>
            </a:pPr>
            <a:r>
              <a:rPr b="1" lang="en-IN" sz="1800">
                <a:solidFill>
                  <a:schemeClr val="dk1"/>
                </a:solidFill>
                <a:latin typeface="Times New Roman"/>
                <a:ea typeface="Times New Roman"/>
                <a:cs typeface="Times New Roman"/>
                <a:sym typeface="Times New Roman"/>
              </a:rPr>
              <a:t>2. Define the height of a binary tree?</a:t>
            </a:r>
            <a:endParaRPr/>
          </a:p>
          <a:p>
            <a:pPr indent="0" lvl="0" marL="0" marR="0" rtl="0" algn="l">
              <a:lnSpc>
                <a:spcPct val="200000"/>
              </a:lnSpc>
              <a:spcBef>
                <a:spcPts val="0"/>
              </a:spcBef>
              <a:spcAft>
                <a:spcPts val="0"/>
              </a:spcAft>
              <a:buNone/>
            </a:pPr>
            <a:r>
              <a:rPr b="1" lang="en-IN" sz="1800">
                <a:solidFill>
                  <a:schemeClr val="dk1"/>
                </a:solidFill>
                <a:latin typeface="Times New Roman"/>
                <a:ea typeface="Times New Roman"/>
                <a:cs typeface="Times New Roman"/>
                <a:sym typeface="Times New Roman"/>
              </a:rPr>
              <a:t>3. </a:t>
            </a:r>
            <a:r>
              <a:rPr b="1" i="0" lang="en-IN" sz="1800">
                <a:solidFill>
                  <a:schemeClr val="dk1"/>
                </a:solidFill>
                <a:latin typeface="Times New Roman"/>
                <a:ea typeface="Times New Roman"/>
                <a:cs typeface="Times New Roman"/>
                <a:sym typeface="Times New Roman"/>
              </a:rPr>
              <a:t>What is an in-order traversal of a binary tree?</a:t>
            </a:r>
            <a:endParaRPr/>
          </a:p>
          <a:p>
            <a:pPr indent="0" lvl="0" marL="0" marR="0" rtl="0" algn="l">
              <a:lnSpc>
                <a:spcPct val="200000"/>
              </a:lnSpc>
              <a:spcBef>
                <a:spcPts val="0"/>
              </a:spcBef>
              <a:spcAft>
                <a:spcPts val="0"/>
              </a:spcAft>
              <a:buNone/>
            </a:pPr>
            <a:r>
              <a:rPr b="1" lang="en-IN" sz="1800">
                <a:solidFill>
                  <a:schemeClr val="dk1"/>
                </a:solidFill>
                <a:latin typeface="Times New Roman"/>
                <a:ea typeface="Times New Roman"/>
                <a:cs typeface="Times New Roman"/>
                <a:sym typeface="Times New Roman"/>
              </a:rPr>
              <a:t>3. </a:t>
            </a:r>
            <a:r>
              <a:rPr b="1" i="0" lang="en-IN" sz="1800">
                <a:solidFill>
                  <a:schemeClr val="dk1"/>
                </a:solidFill>
                <a:latin typeface="Times New Roman"/>
                <a:ea typeface="Times New Roman"/>
                <a:cs typeface="Times New Roman"/>
                <a:sym typeface="Times New Roman"/>
              </a:rPr>
              <a:t>Define a leaf node in the context of a binary tree?</a:t>
            </a:r>
            <a:endParaRPr/>
          </a:p>
          <a:p>
            <a:pPr indent="0" lvl="0" marL="0" marR="0" rtl="0" algn="l">
              <a:lnSpc>
                <a:spcPct val="200000"/>
              </a:lnSpc>
              <a:spcBef>
                <a:spcPts val="0"/>
              </a:spcBef>
              <a:spcAft>
                <a:spcPts val="0"/>
              </a:spcAft>
              <a:buNone/>
            </a:pPr>
            <a:r>
              <a:rPr b="1" lang="en-IN" sz="1800">
                <a:solidFill>
                  <a:schemeClr val="dk1"/>
                </a:solidFill>
                <a:latin typeface="Times New Roman"/>
                <a:ea typeface="Times New Roman"/>
                <a:cs typeface="Times New Roman"/>
                <a:sym typeface="Times New Roman"/>
              </a:rPr>
              <a:t>4. </a:t>
            </a:r>
            <a:r>
              <a:rPr b="1" i="0" lang="en-IN" sz="1800">
                <a:solidFill>
                  <a:schemeClr val="dk1"/>
                </a:solidFill>
                <a:latin typeface="Times New Roman"/>
                <a:ea typeface="Times New Roman"/>
                <a:cs typeface="Times New Roman"/>
                <a:sym typeface="Times New Roman"/>
              </a:rPr>
              <a:t>Define the term "binary tree traversal.“?</a:t>
            </a:r>
            <a:endParaRPr b="1" sz="1800">
              <a:solidFill>
                <a:schemeClr val="dk1"/>
              </a:solidFill>
              <a:latin typeface="Times New Roman"/>
              <a:ea typeface="Times New Roman"/>
              <a:cs typeface="Times New Roman"/>
              <a:sym typeface="Times New Roman"/>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09"/>
                                        </p:tgtEl>
                                        <p:attrNameLst>
                                          <p:attrName>style.visibility</p:attrName>
                                        </p:attrNameLst>
                                      </p:cBhvr>
                                      <p:to>
                                        <p:strVal val="visible"/>
                                      </p:to>
                                    </p:set>
                                    <p:animEffect filter="fade" transition="in">
                                      <p:cBhvr>
                                        <p:cTn dur="500"/>
                                        <p:tgtEl>
                                          <p:spTgt spid="105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4" name="Shape 10514"/>
        <p:cNvGrpSpPr/>
        <p:nvPr/>
      </p:nvGrpSpPr>
      <p:grpSpPr>
        <a:xfrm>
          <a:off x="0" y="0"/>
          <a:ext cx="0" cy="0"/>
          <a:chOff x="0" y="0"/>
          <a:chExt cx="0" cy="0"/>
        </a:xfrm>
      </p:grpSpPr>
      <p:sp>
        <p:nvSpPr>
          <p:cNvPr id="10515" name="Google Shape;10515;p35"/>
          <p:cNvSpPr/>
          <p:nvPr/>
        </p:nvSpPr>
        <p:spPr>
          <a:xfrm>
            <a:off x="2161309" y="93891"/>
            <a:ext cx="7105200" cy="412200"/>
          </a:xfrm>
          <a:prstGeom prst="roundRect">
            <a:avLst>
              <a:gd fmla="val 16667" name="adj"/>
            </a:avLst>
          </a:prstGeom>
          <a:solidFill>
            <a:srgbClr val="BA253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2400">
                <a:solidFill>
                  <a:schemeClr val="lt1"/>
                </a:solidFill>
                <a:latin typeface="Times New Roman"/>
                <a:ea typeface="Times New Roman"/>
                <a:cs typeface="Times New Roman"/>
                <a:sym typeface="Times New Roman"/>
              </a:rPr>
              <a:t>REFERENCES FOR FURTHER LEARNING OF THE SESSION</a:t>
            </a:r>
            <a:endParaRPr sz="2400">
              <a:solidFill>
                <a:schemeClr val="lt1"/>
              </a:solidFill>
              <a:latin typeface="Times New Roman"/>
              <a:ea typeface="Times New Roman"/>
              <a:cs typeface="Times New Roman"/>
              <a:sym typeface="Times New Roman"/>
            </a:endParaRPr>
          </a:p>
        </p:txBody>
      </p:sp>
      <p:sp>
        <p:nvSpPr>
          <p:cNvPr id="10516" name="Google Shape;10516;p35"/>
          <p:cNvSpPr txBox="1"/>
          <p:nvPr/>
        </p:nvSpPr>
        <p:spPr>
          <a:xfrm>
            <a:off x="437195" y="1013239"/>
            <a:ext cx="11509500" cy="42045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IN" sz="2400">
                <a:solidFill>
                  <a:schemeClr val="dk1"/>
                </a:solidFill>
                <a:latin typeface="Times New Roman"/>
                <a:ea typeface="Times New Roman"/>
                <a:cs typeface="Times New Roman"/>
                <a:sym typeface="Times New Roman"/>
              </a:rPr>
              <a:t>Reference Books:</a:t>
            </a:r>
            <a:endParaRPr sz="2400">
              <a:solidFill>
                <a:schemeClr val="dk1"/>
              </a:solidFill>
              <a:latin typeface="Times New Roman"/>
              <a:ea typeface="Times New Roman"/>
              <a:cs typeface="Times New Roman"/>
              <a:sym typeface="Times New Roman"/>
            </a:endParaRPr>
          </a:p>
          <a:p>
            <a:pPr indent="-342900" lvl="1" marL="342900" marR="0" rtl="0" algn="l">
              <a:lnSpc>
                <a:spcPct val="150000"/>
              </a:lnSpc>
              <a:spcBef>
                <a:spcPts val="0"/>
              </a:spcBef>
              <a:spcAft>
                <a:spcPts val="0"/>
              </a:spcAft>
              <a:buClr>
                <a:schemeClr val="dk1"/>
              </a:buClr>
              <a:buSzPts val="1800"/>
              <a:buFont typeface="Times New Roman"/>
              <a:buAutoNum type="arabicPeriod"/>
            </a:pPr>
            <a:r>
              <a:rPr b="0" i="0" lang="en-IN" sz="1800" u="none" cap="none" strike="noStrike">
                <a:solidFill>
                  <a:schemeClr val="dk1"/>
                </a:solidFill>
                <a:latin typeface="Times New Roman"/>
                <a:ea typeface="Times New Roman"/>
                <a:cs typeface="Times New Roman"/>
                <a:sym typeface="Times New Roman"/>
              </a:rPr>
              <a:t>"Mark Allen Weiss, Data Structures and Algorithm Analysis in C, 2010 , Second Edition, Pearson Education. </a:t>
            </a:r>
            <a:endParaRPr/>
          </a:p>
          <a:p>
            <a:pPr indent="-342900" lvl="1" marL="342900" marR="0" rtl="0" algn="l">
              <a:lnSpc>
                <a:spcPct val="150000"/>
              </a:lnSpc>
              <a:spcBef>
                <a:spcPts val="0"/>
              </a:spcBef>
              <a:spcAft>
                <a:spcPts val="0"/>
              </a:spcAft>
              <a:buClr>
                <a:schemeClr val="dk1"/>
              </a:buClr>
              <a:buSzPts val="1800"/>
              <a:buFont typeface="Times New Roman"/>
              <a:buAutoNum type="arabicPeriod"/>
            </a:pPr>
            <a:r>
              <a:rPr b="0" i="0" lang="en-IN" sz="1800" u="none" cap="none" strike="noStrike">
                <a:solidFill>
                  <a:schemeClr val="dk1"/>
                </a:solidFill>
                <a:latin typeface="Times New Roman"/>
                <a:ea typeface="Times New Roman"/>
                <a:cs typeface="Times New Roman"/>
                <a:sym typeface="Times New Roman"/>
              </a:rPr>
              <a:t>2. Ellis Horowitz, Fundamentals of Data Structures in C: Second Edition, 2015.</a:t>
            </a:r>
            <a:endParaRPr/>
          </a:p>
          <a:p>
            <a:pPr indent="-342900" lvl="1" marL="342900" marR="0" rtl="0" algn="l">
              <a:lnSpc>
                <a:spcPct val="150000"/>
              </a:lnSpc>
              <a:spcBef>
                <a:spcPts val="0"/>
              </a:spcBef>
              <a:spcAft>
                <a:spcPts val="0"/>
              </a:spcAft>
              <a:buClr>
                <a:schemeClr val="dk1"/>
              </a:buClr>
              <a:buSzPts val="1800"/>
              <a:buFont typeface="Times New Roman"/>
              <a:buAutoNum type="arabicPeriod"/>
            </a:pPr>
            <a:r>
              <a:rPr b="0" i="0" lang="en-IN" sz="1800" u="none" cap="none" strike="noStrike">
                <a:solidFill>
                  <a:schemeClr val="dk1"/>
                </a:solidFill>
                <a:latin typeface="Times New Roman"/>
                <a:ea typeface="Times New Roman"/>
                <a:cs typeface="Times New Roman"/>
                <a:sym typeface="Times New Roman"/>
              </a:rPr>
              <a:t>A.V.Aho, J. E. Hopcroft, and J. D. Ullman, “Data Structures And Algorithms”, Pearson Education, First Edition Reprint 2003. </a:t>
            </a:r>
            <a:endParaRPr/>
          </a:p>
          <a:p>
            <a:pPr indent="-342900" lvl="1" marL="342900" marR="0" rtl="0" algn="l">
              <a:lnSpc>
                <a:spcPct val="150000"/>
              </a:lnSpc>
              <a:spcBef>
                <a:spcPts val="0"/>
              </a:spcBef>
              <a:spcAft>
                <a:spcPts val="0"/>
              </a:spcAft>
              <a:buClr>
                <a:schemeClr val="dk1"/>
              </a:buClr>
              <a:buSzPts val="2400"/>
              <a:buFont typeface="Times New Roman"/>
              <a:buAutoNum type="arabicPeriod"/>
            </a:pPr>
            <a:r>
              <a:rPr b="1" i="0" lang="en-IN" sz="2400" u="none" cap="none" strike="noStrike">
                <a:solidFill>
                  <a:schemeClr val="dk1"/>
                </a:solidFill>
                <a:latin typeface="Times New Roman"/>
                <a:ea typeface="Times New Roman"/>
                <a:cs typeface="Times New Roman"/>
                <a:sym typeface="Times New Roman"/>
              </a:rPr>
              <a:t>Sites and Web links:</a:t>
            </a:r>
            <a:endParaRPr/>
          </a:p>
          <a:p>
            <a:pPr indent="0" lvl="0" marL="0" marR="0" rtl="0" algn="l">
              <a:lnSpc>
                <a:spcPct val="150000"/>
              </a:lnSpc>
              <a:spcBef>
                <a:spcPts val="0"/>
              </a:spcBef>
              <a:spcAft>
                <a:spcPts val="0"/>
              </a:spcAft>
              <a:buNone/>
            </a:pPr>
            <a:r>
              <a:rPr lang="en-IN" sz="1800">
                <a:solidFill>
                  <a:schemeClr val="dk1"/>
                </a:solidFill>
                <a:latin typeface="Times New Roman"/>
                <a:ea typeface="Times New Roman"/>
                <a:cs typeface="Times New Roman"/>
                <a:sym typeface="Times New Roman"/>
              </a:rPr>
              <a:t>1. </a:t>
            </a:r>
            <a:r>
              <a:rPr lang="en-IN" sz="1800" u="sng">
                <a:solidFill>
                  <a:schemeClr val="hlink"/>
                </a:solidFill>
                <a:latin typeface="Times New Roman"/>
                <a:ea typeface="Times New Roman"/>
                <a:cs typeface="Times New Roman"/>
                <a:sym typeface="Times New Roman"/>
                <a:hlinkClick r:id="rId3"/>
              </a:rPr>
              <a:t>https://nptel.ac.in/courses/106102064</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IN" sz="1800" u="sng">
                <a:solidFill>
                  <a:schemeClr val="hlink"/>
                </a:solidFill>
                <a:latin typeface="Times New Roman"/>
                <a:ea typeface="Times New Roman"/>
                <a:cs typeface="Times New Roman"/>
                <a:sym typeface="Times New Roman"/>
                <a:hlinkClick r:id="rId4"/>
              </a:rPr>
              <a:t>2. https://in.udacity.com/course/intro-to-algorithms--cs215</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IN" sz="1800">
                <a:solidFill>
                  <a:schemeClr val="dk1"/>
                </a:solidFill>
                <a:latin typeface="Times New Roman"/>
                <a:ea typeface="Times New Roman"/>
                <a:cs typeface="Times New Roman"/>
                <a:sym typeface="Times New Roman"/>
              </a:rPr>
              <a:t>3. </a:t>
            </a:r>
            <a:r>
              <a:rPr lang="en-IN" sz="1800" u="sng">
                <a:solidFill>
                  <a:schemeClr val="hlink"/>
                </a:solidFill>
                <a:latin typeface="Times New Roman"/>
                <a:ea typeface="Times New Roman"/>
                <a:cs typeface="Times New Roman"/>
                <a:sym typeface="Times New Roman"/>
                <a:hlinkClick r:id="rId5"/>
              </a:rPr>
              <a:t>https://www.coursera.org/learn/data-structures?action=enroll</a:t>
            </a:r>
            <a:endParaRPr sz="1800">
              <a:solidFill>
                <a:schemeClr val="dk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15"/>
                                        </p:tgtEl>
                                        <p:attrNameLst>
                                          <p:attrName>style.visibility</p:attrName>
                                        </p:attrNameLst>
                                      </p:cBhvr>
                                      <p:to>
                                        <p:strVal val="visible"/>
                                      </p:to>
                                    </p:set>
                                    <p:animEffect filter="fade" transition="in">
                                      <p:cBhvr>
                                        <p:cTn dur="500"/>
                                        <p:tgtEl>
                                          <p:spTgt spid="10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0" name="Shape 10520"/>
        <p:cNvGrpSpPr/>
        <p:nvPr/>
      </p:nvGrpSpPr>
      <p:grpSpPr>
        <a:xfrm>
          <a:off x="0" y="0"/>
          <a:ext cx="0" cy="0"/>
          <a:chOff x="0" y="0"/>
          <a:chExt cx="0" cy="0"/>
        </a:xfrm>
      </p:grpSpPr>
      <p:sp>
        <p:nvSpPr>
          <p:cNvPr id="10521" name="Google Shape;10521;p36"/>
          <p:cNvSpPr/>
          <p:nvPr/>
        </p:nvSpPr>
        <p:spPr>
          <a:xfrm>
            <a:off x="2602523" y="1856934"/>
            <a:ext cx="7920000" cy="2883900"/>
          </a:xfrm>
          <a:prstGeom prst="roundRect">
            <a:avLst>
              <a:gd fmla="val 16667" name="adj"/>
            </a:avLst>
          </a:prstGeom>
          <a:solidFill>
            <a:schemeClr val="accent2"/>
          </a:solidFill>
          <a:ln>
            <a:noFill/>
          </a:ln>
          <a:effectLst>
            <a:outerShdw blurRad="50800" rotWithShape="0" algn="tl" dir="2700000" dist="38100">
              <a:srgbClr val="BA2532">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b="1" lang="en-IN" sz="3200">
                <a:solidFill>
                  <a:schemeClr val="lt1"/>
                </a:solidFill>
                <a:latin typeface="Times New Roman"/>
                <a:ea typeface="Times New Roman"/>
                <a:cs typeface="Times New Roman"/>
                <a:sym typeface="Times New Roman"/>
              </a:rPr>
              <a:t>THANK YOU</a:t>
            </a:r>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b="1" lang="en-IN" sz="3600">
                <a:solidFill>
                  <a:schemeClr val="lt1"/>
                </a:solidFill>
                <a:latin typeface="Times New Roman"/>
                <a:ea typeface="Times New Roman"/>
                <a:cs typeface="Times New Roman"/>
                <a:sym typeface="Times New Roman"/>
              </a:rPr>
              <a:t>Team – Data Sructures</a:t>
            </a:r>
            <a:endParaRPr b="1" sz="36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pic>
        <p:nvPicPr>
          <p:cNvPr id="10522" name="Google Shape;10522;p36"/>
          <p:cNvPicPr preferRelativeResize="0"/>
          <p:nvPr/>
        </p:nvPicPr>
        <p:blipFill rotWithShape="1">
          <a:blip r:embed="rId3">
            <a:alphaModFix/>
          </a:blip>
          <a:srcRect b="0" l="0" r="0" t="0"/>
          <a:stretch/>
        </p:blipFill>
        <p:spPr>
          <a:xfrm>
            <a:off x="5671337" y="2537208"/>
            <a:ext cx="2351922" cy="124368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